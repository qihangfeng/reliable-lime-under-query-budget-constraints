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89" r:id="rId3"/>
    <p:sldId id="282" r:id="rId4"/>
    <p:sldId id="290" r:id="rId5"/>
    <p:sldId id="275" r:id="rId6"/>
    <p:sldId id="299" r:id="rId7"/>
    <p:sldId id="300" r:id="rId8"/>
    <p:sldId id="301" r:id="rId9"/>
    <p:sldId id="294" r:id="rId10"/>
    <p:sldId id="297" r:id="rId11"/>
    <p:sldId id="298" r:id="rId12"/>
    <p:sldId id="295" r:id="rId13"/>
    <p:sldId id="291" r:id="rId14"/>
    <p:sldId id="29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75D38"/>
    <a:srgbClr val="F2F4C1"/>
    <a:srgbClr val="FFDB05"/>
    <a:srgbClr val="00A856"/>
    <a:srgbClr val="007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57"/>
    <p:restoredTop sz="97046"/>
  </p:normalViewPr>
  <p:slideViewPr>
    <p:cSldViewPr snapToGrid="0" snapToObjects="1" showGuides="1">
      <p:cViewPr varScale="1">
        <p:scale>
          <a:sx n="113" d="100"/>
          <a:sy n="113" d="100"/>
        </p:scale>
        <p:origin x="576" y="114"/>
      </p:cViewPr>
      <p:guideLst>
        <p:guide orient="horz" pos="212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A587A-38EB-4614-822E-5EB92258F22F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D7B1-ACE4-4C69-9C37-FE05AA497F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AC6E-D177-2B24-B8E1-4333D72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0CBE4-CA02-5D6F-B0E1-2C9D53F44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C93AD-19A2-1070-2ADA-6F5A388C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4C664-B32F-4B82-D43C-7D2A5EE4D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545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DD3B-44D5-7454-9485-711A8F60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456B-EAAE-F8E4-C4EA-7EE41F5E3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7B2B0-30F4-4EE8-11EA-A2D92F685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C25B3-A845-071A-3412-25FFB4C4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4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2C1A-7BEB-7E74-0F4C-3787BCE0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35641-FD54-24EC-A3D0-5478AF9B6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3C5E2-1CFF-947B-4B23-58460545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4C39-AB6C-1B97-B207-4F19182A1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47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CC98-DBC0-BA7E-68A1-7E3B0031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213A8-32B3-337B-D665-BF8F25F38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C5316-6A74-F38D-AAA9-084E7B567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1F496-06FC-5E7D-F123-3FA5BEC50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83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B9CC-64A2-8EEA-1310-39137159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5E842-B4E0-F911-9B83-9E18C7B82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00421-0B35-29E6-986D-74D33CDAE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22563-87CB-01F3-965E-20E30D0E0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24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7838-1AB8-3F00-6A16-05975F2B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0200F-814E-BA18-33CB-61481164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7A108-2776-84E2-80E1-01D02B5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611C-2FFC-7700-C2DC-95EDB7F00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647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11E6-52DD-A207-DDD2-EDA8EBB6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80C2B-189B-D9B4-4A21-4FB40CF1A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C18A5-9566-A095-F416-FA814BC81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4BE34-074D-B698-BC54-9ADDAB652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690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0AAA-A4EF-66DA-879F-0D32D809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079C0-5D74-7764-E03F-9569ECA0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6D22F-9909-256B-FF07-8D857B2EE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BCBC-06F7-25D4-9EB8-F262226FC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31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52405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/>
          <p:nvPr/>
        </p:nvSpPr>
        <p:spPr>
          <a:xfrm>
            <a:off x="291225" y="2063794"/>
            <a:ext cx="8903575" cy="27304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Reliable LIME under</a:t>
            </a:r>
          </a:p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Query Budget Constraints</a:t>
            </a:r>
          </a:p>
        </p:txBody>
      </p:sp>
      <p:pic>
        <p:nvPicPr>
          <p:cNvPr id="1026" name="Picture 2" descr="Conne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2" y="6020989"/>
            <a:ext cx="1480457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/>
          <p:nvPr/>
        </p:nvSpPr>
        <p:spPr>
          <a:xfrm>
            <a:off x="409420" y="449459"/>
            <a:ext cx="3147138" cy="56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2026 Winter ECE 720 </a:t>
            </a: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Freesentation 2 ExtraLight" pitchFamily="2" charset="-127"/>
                <a:ea typeface="Freesentation 2 ExtraLight" pitchFamily="2" charset="-127"/>
                <a:cs typeface="Times New Roman" panose="02020603050405020304" pitchFamily="18" charset="0"/>
              </a:rPr>
              <a:t>Group Final Project</a:t>
            </a:r>
          </a:p>
        </p:txBody>
      </p:sp>
      <p:sp>
        <p:nvSpPr>
          <p:cNvPr id="55" name="Subtitle 2"/>
          <p:cNvSpPr txBox="1"/>
          <p:nvPr/>
        </p:nvSpPr>
        <p:spPr>
          <a:xfrm>
            <a:off x="10108591" y="315065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Wonki Byun</a:t>
            </a:r>
          </a:p>
        </p:txBody>
      </p:sp>
      <p:sp>
        <p:nvSpPr>
          <p:cNvPr id="56" name="Subtitle 2"/>
          <p:cNvSpPr txBox="1"/>
          <p:nvPr/>
        </p:nvSpPr>
        <p:spPr>
          <a:xfrm>
            <a:off x="10108591" y="4512988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Qihang</a:t>
            </a:r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Feng </a:t>
            </a:r>
            <a:endParaRPr lang="en-US" altLang="zh-CN" sz="160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28615" y="2213447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zchai3@ualberta.ca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8615" y="3624914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wonki@ualberta.ca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28615" y="4963393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qfeng5@ualberta.ca</a:t>
            </a:r>
          </a:p>
        </p:txBody>
      </p:sp>
      <p:sp>
        <p:nvSpPr>
          <p:cNvPr id="60" name="Subtitle 2"/>
          <p:cNvSpPr txBox="1"/>
          <p:nvPr/>
        </p:nvSpPr>
        <p:spPr>
          <a:xfrm>
            <a:off x="10108591" y="176139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Zixi Chai</a:t>
            </a:r>
          </a:p>
        </p:txBody>
      </p:sp>
      <p:sp>
        <p:nvSpPr>
          <p:cNvPr id="62" name="Subtitle 2"/>
          <p:cNvSpPr txBox="1"/>
          <p:nvPr/>
        </p:nvSpPr>
        <p:spPr>
          <a:xfrm>
            <a:off x="10108591" y="643601"/>
            <a:ext cx="1712208" cy="404813"/>
          </a:xfrm>
          <a:prstGeom prst="roundRect">
            <a:avLst>
              <a:gd name="adj" fmla="val 18926"/>
            </a:avLst>
          </a:prstGeom>
          <a:solidFill>
            <a:srgbClr val="275D38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Background and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963C8F-2BCE-23C4-C961-4EEBA0D1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B74FB28-4958-F664-3898-67B0C3F2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149" y="1370542"/>
            <a:ext cx="7471701" cy="4116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/>
              <a:t>We defined numerical metrics to evaluate explanations from four perspectives: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Fidelity</a:t>
            </a:r>
            <a:endParaRPr lang="en-US" altLang="zh-CN" b="1" dirty="0"/>
          </a:p>
          <a:p>
            <a:r>
              <a:rPr lang="en-US" altLang="zh-CN" b="1" dirty="0"/>
              <a:t> Stability</a:t>
            </a:r>
          </a:p>
          <a:p>
            <a:pPr marL="0" indent="0">
              <a:buNone/>
            </a:pPr>
            <a:r>
              <a:rPr lang="zh-CN" altLang="en-US" dirty="0"/>
              <a:t>★</a:t>
            </a:r>
            <a:r>
              <a:rPr lang="en-US" altLang="zh-CN" b="1" dirty="0"/>
              <a:t>Faithfulness</a:t>
            </a:r>
            <a:endParaRPr lang="en-US" altLang="zh-CN" dirty="0"/>
          </a:p>
          <a:p>
            <a:r>
              <a:rPr lang="en-US" altLang="zh-CN" b="1" dirty="0"/>
              <a:t> Cost: </a:t>
            </a:r>
            <a:r>
              <a:rPr lang="en-US" altLang="zh-CN" dirty="0"/>
              <a:t>Number of model queries (budget) and runtime per explanation.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EA6CE-ADF5-C4A6-AA1A-C4F6945C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253886-13DD-C35C-FC7D-DB9760130DA3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Fidelity: </a:t>
                </a:r>
                <a:r>
                  <a:rPr lang="en-US" altLang="zh-CN" dirty="0"/>
                  <a:t>Weighted Mean Squared Error (WMSE) between surrogate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and black box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on perturbed samples.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𝑊𝑀𝑆𝐸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/>
                  <a:t>Why do we need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/>
                  <a:t> for each surrogate explanation?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Samples closer to the original instance should matter more.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: the perturbation of original image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dirty="0"/>
                  <a:t>: the kernel that measures the similarity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  <a:blipFill>
                <a:blip r:embed="rId3"/>
                <a:stretch>
                  <a:fillRect l="-1292" t="-1837" r="-1907" b="-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2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71602-34FE-558E-46B3-126E363B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510CDE-9654-0A74-EFEF-13F4ED2DFA4D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Stability: </a:t>
                </a:r>
                <a:r>
                  <a:rPr lang="en-US" altLang="zh-CN" dirty="0"/>
                  <a:t>Jaccard overlap of top 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across repeated runs with different random seeds under the same budget.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𝑆𝑡𝑎𝑏𝑖𝑙𝑖𝑡𝑦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Where: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m: the number of runs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: the selected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in the corresponding round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  <a:blipFill>
                <a:blip r:embed="rId3"/>
                <a:stretch>
                  <a:fillRect l="-1292" t="-2363" r="-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970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71770-7271-381F-C00B-BCCCA529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A87CD7-19D1-E8D2-EAC8-704E73F7B175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2615" y="1603375"/>
                <a:ext cx="9706769" cy="36512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★</a:t>
                </a:r>
                <a:r>
                  <a:rPr lang="en-US" altLang="zh-CN" b="1" dirty="0"/>
                  <a:t>Faithfulness: </a:t>
                </a:r>
                <a:r>
                  <a:rPr lang="en-US" altLang="zh-CN" dirty="0"/>
                  <a:t>Drop of black box prediction probability after removing the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which is selected by the explainer.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𝐹𝑎𝑖𝑡h𝐷𝑟𝑜𝑝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Larger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more influential</a:t>
                </a:r>
              </a:p>
              <a:p>
                <a:r>
                  <a:rPr lang="en-US" altLang="zh-CN" dirty="0"/>
                  <a:t>Smaller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less influential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2615" y="1603375"/>
                <a:ext cx="9706769" cy="3651249"/>
              </a:xfrm>
              <a:blipFill>
                <a:blip r:embed="rId3"/>
                <a:stretch>
                  <a:fillRect l="-1319" t="-3005" r="-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06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EFA71-C49B-CBD3-3D9C-5255EEB0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323057-2F48-DBC2-B41A-C930045365EA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Budget Sweep Pipeline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9363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0898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Explainer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dirty="0"/>
                            <a:t>, 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Segmentation S, target label c</a:t>
                          </a:r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Budge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dirty="0"/>
                            <a:t>, Seed</a:t>
                          </a:r>
                          <a:r>
                            <a:rPr lang="en-US" altLang="zh-CN" sz="2400" baseline="0" dirty="0"/>
                            <a:t>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b="0" baseline="0" dirty="0"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top_k_superpixels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𝑓𝑎𝑖𝑡h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𝑓𝑖𝑑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FaithDrop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𝑊𝑀𝑆𝐸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kern="1200" baseline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18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𝑓𝑎𝑖𝑡h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𝑓𝑖𝑑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  <a:endParaRPr kumimoji="0" lang="en-US" altLang="zh-CN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𝑏𝑢𝑑𝑔𝑒𝑡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Stability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Jaccard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𝐾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</a:t>
                          </a: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69630" r="-335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30738" r="-335" b="-1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0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C1ADE-6E44-6C8D-EA3F-3BCEE936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06AC91-B231-3758-16E3-371BA114E5B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8916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2674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54936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altLang="zh-CN" sz="2400" i="1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adaptive_coarse_ration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Coarse(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get_superpixels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Fine(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oMath>
                          </a14:m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altLang="zh-CN" sz="2400" b="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return</a:t>
                          </a: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73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11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1627" r="-316" b="-3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4805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05966-D485-2D59-8C85-833B0A6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2554F4-4E3E-CB26-CE88-EB282A935C76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ea typeface="Freesentation 9 Black" pitchFamily="2" charset="-127"/>
              </a:rPr>
              <a:t>Coarse-to-Fine Budget Allocation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2081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06242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1560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89487" r="-316" b="-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8396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F08EE-A1F1-7238-69D8-AAC26AB9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39215C-1D15-1BD8-2630-0788D20D2EAC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800" b="1" dirty="0">
              <a:solidFill>
                <a:prstClr val="white"/>
              </a:solidFill>
              <a:ea typeface="Freesentation 9 Black" pitchFamily="2" charset="-127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rand() &lt;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else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sample_focused_on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Cset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if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9001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4446" r="-316" b="-3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1584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3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2829" y="2613392"/>
            <a:ext cx="96991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Experiments, Evaluation and 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58E5-A57C-6D53-E43E-2214A0A1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753D5-9037-A0B1-AB5B-3296C0BFB25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Title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92F8253-2219-8E45-449D-143FFAC8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162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39" y="2690284"/>
            <a:ext cx="5988922" cy="1477432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1363</TotalTime>
  <Words>760</Words>
  <Application>Microsoft Office PowerPoint</Application>
  <PresentationFormat>Widescreen</PresentationFormat>
  <Paragraphs>121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Freesentation 2 ExtraLight</vt:lpstr>
      <vt:lpstr>Freesentation 4 Regular</vt:lpstr>
      <vt:lpstr>Freesentation 8 ExtraBold</vt:lpstr>
      <vt:lpstr>Freesentation 9 Black</vt:lpstr>
      <vt:lpstr>等线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Qihang Feng</cp:lastModifiedBy>
  <cp:revision>144</cp:revision>
  <dcterms:created xsi:type="dcterms:W3CDTF">2013-01-27T09:14:00Z</dcterms:created>
  <dcterms:modified xsi:type="dcterms:W3CDTF">2026-03-25T22:57:46Z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AAB3135A7CCB48A78B1F72CC2F3F2F54_12</vt:lpwstr>
  </property>
  <property fmtid="{D5CDD505-2E9C-101B-9397-08002B2CF9AE}" pid="3" name="KSOProductBuildVer">
    <vt:lpwstr>2052-12.1.0.24657</vt:lpwstr>
  </property>
</Properties>
</file>