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89" r:id="rId3"/>
    <p:sldId id="302" r:id="rId4"/>
    <p:sldId id="282" r:id="rId5"/>
    <p:sldId id="303" r:id="rId6"/>
    <p:sldId id="304" r:id="rId7"/>
    <p:sldId id="305" r:id="rId8"/>
    <p:sldId id="290" r:id="rId9"/>
    <p:sldId id="275" r:id="rId10"/>
    <p:sldId id="299" r:id="rId11"/>
    <p:sldId id="300" r:id="rId12"/>
    <p:sldId id="301" r:id="rId13"/>
    <p:sldId id="294" r:id="rId14"/>
    <p:sldId id="297" r:id="rId15"/>
    <p:sldId id="298" r:id="rId16"/>
    <p:sldId id="295" r:id="rId17"/>
    <p:sldId id="291" r:id="rId18"/>
    <p:sldId id="307" r:id="rId19"/>
    <p:sldId id="308" r:id="rId20"/>
    <p:sldId id="314" r:id="rId21"/>
    <p:sldId id="315" r:id="rId22"/>
    <p:sldId id="309" r:id="rId23"/>
    <p:sldId id="310" r:id="rId24"/>
    <p:sldId id="311" r:id="rId25"/>
    <p:sldId id="312" r:id="rId26"/>
    <p:sldId id="313" r:id="rId27"/>
    <p:sldId id="26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D38"/>
    <a:srgbClr val="FFDB05"/>
    <a:srgbClr val="FFFFFF"/>
    <a:srgbClr val="F2F4C1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/>
    <p:restoredTop sz="97046"/>
  </p:normalViewPr>
  <p:slideViewPr>
    <p:cSldViewPr snapToGrid="0" snapToObjects="1" showGuides="1">
      <p:cViewPr varScale="1">
        <p:scale>
          <a:sx n="105" d="100"/>
          <a:sy n="105" d="100"/>
        </p:scale>
        <p:origin x="216" y="68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AC6E-D177-2B24-B8E1-4333D72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0CBE4-CA02-5D6F-B0E1-2C9D53F44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C93AD-19A2-1070-2ADA-6F5A388C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4C664-B32F-4B82-D43C-7D2A5EE4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4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DD3B-44D5-7454-9485-711A8F60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456B-EAAE-F8E4-C4EA-7EE41F5E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B2B0-30F4-4EE8-11EA-A2D92F68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C25B3-A845-071A-3412-25FFB4C4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4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2C1A-7BEB-7E74-0F4C-3787BCE0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5641-FD54-24EC-A3D0-5478AF9B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C5E2-1CFF-947B-4B23-58460545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4C39-AB6C-1B97-B207-4F19182A1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4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CC98-DBC0-BA7E-68A1-7E3B0031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213A8-32B3-337B-D665-BF8F25F38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5316-6A74-F38D-AAA9-084E7B567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F496-06FC-5E7D-F123-3FA5BEC5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3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B9CC-64A2-8EEA-1310-39137159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5E842-B4E0-F911-9B83-9E18C7B82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0421-0B35-29E6-986D-74D33CDA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22563-87CB-01F3-965E-20E30D0E0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24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7838-1AB8-3F00-6A16-05975F2B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0200F-814E-BA18-33CB-61481164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7A108-2776-84E2-80E1-01D02B5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611C-2FFC-7700-C2DC-95EDB7F00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47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11E6-52DD-A207-DDD2-EDA8EBB6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0C2B-189B-D9B4-4A21-4FB40CF1A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C18A5-9566-A095-F416-FA814BC8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BE34-074D-B698-BC54-9ADDAB65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90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52405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291225" y="2063794"/>
            <a:ext cx="8903575" cy="2730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Reliable LIME under</a:t>
            </a:r>
          </a:p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Query Budget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720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Group 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Wonki Byun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wonki@ualberta.ca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9039-5F55-EB1A-2A75-AC78CCEF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5041E7-0BAB-6768-A47B-BDA28400A3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F45F49-45AC-F2E5-A3FB-657EFBF1771E}"/>
              </a:ext>
            </a:extLst>
          </p:cNvPr>
          <p:cNvSpPr/>
          <p:nvPr/>
        </p:nvSpPr>
        <p:spPr>
          <a:xfrm>
            <a:off x="1251160" y="5180671"/>
            <a:ext cx="866782" cy="292387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38B90E-B2FC-5000-5770-B8A2A5A35563}"/>
              </a:ext>
            </a:extLst>
          </p:cNvPr>
          <p:cNvSpPr/>
          <p:nvPr/>
        </p:nvSpPr>
        <p:spPr>
          <a:xfrm>
            <a:off x="1240415" y="2651908"/>
            <a:ext cx="2338865" cy="1974598"/>
          </a:xfrm>
          <a:custGeom>
            <a:avLst/>
            <a:gdLst>
              <a:gd name="csX0" fmla="*/ 1152831 w 2338865"/>
              <a:gd name="csY0" fmla="*/ 0 h 1974598"/>
              <a:gd name="csX1" fmla="*/ 1360221 w 2338865"/>
              <a:gd name="csY1" fmla="*/ 207390 h 1974598"/>
              <a:gd name="csX2" fmla="*/ 1343923 w 2338865"/>
              <a:gd name="csY2" fmla="*/ 288115 h 1974598"/>
              <a:gd name="csX3" fmla="*/ 1317860 w 2338865"/>
              <a:gd name="csY3" fmla="*/ 326773 h 1974598"/>
              <a:gd name="csX4" fmla="*/ 1976744 w 2338865"/>
              <a:gd name="csY4" fmla="*/ 326773 h 1974598"/>
              <a:gd name="csX5" fmla="*/ 1976744 w 2338865"/>
              <a:gd name="csY5" fmla="*/ 1017610 h 1974598"/>
              <a:gd name="csX6" fmla="*/ 1984829 w 2338865"/>
              <a:gd name="csY6" fmla="*/ 1005619 h 1974598"/>
              <a:gd name="csX7" fmla="*/ 2131475 w 2338865"/>
              <a:gd name="csY7" fmla="*/ 944876 h 1974598"/>
              <a:gd name="csX8" fmla="*/ 2338865 w 2338865"/>
              <a:gd name="csY8" fmla="*/ 1152266 h 1974598"/>
              <a:gd name="csX9" fmla="*/ 2131475 w 2338865"/>
              <a:gd name="csY9" fmla="*/ 1359656 h 1974598"/>
              <a:gd name="csX10" fmla="*/ 1984829 w 2338865"/>
              <a:gd name="csY10" fmla="*/ 1298913 h 1974598"/>
              <a:gd name="csX11" fmla="*/ 1976744 w 2338865"/>
              <a:gd name="csY11" fmla="*/ 1286922 h 1974598"/>
              <a:gd name="csX12" fmla="*/ 1976744 w 2338865"/>
              <a:gd name="csY12" fmla="*/ 1974598 h 1974598"/>
              <a:gd name="csX13" fmla="*/ 1288791 w 2338865"/>
              <a:gd name="csY13" fmla="*/ 1974598 h 1974598"/>
              <a:gd name="csX14" fmla="*/ 1306142 w 2338865"/>
              <a:gd name="csY14" fmla="*/ 1962900 h 1974598"/>
              <a:gd name="csX15" fmla="*/ 1366885 w 2338865"/>
              <a:gd name="csY15" fmla="*/ 1816253 h 1974598"/>
              <a:gd name="csX16" fmla="*/ 1159495 w 2338865"/>
              <a:gd name="csY16" fmla="*/ 1608863 h 1974598"/>
              <a:gd name="csX17" fmla="*/ 952105 w 2338865"/>
              <a:gd name="csY17" fmla="*/ 1816253 h 1974598"/>
              <a:gd name="csX18" fmla="*/ 1012848 w 2338865"/>
              <a:gd name="csY18" fmla="*/ 1962900 h 1974598"/>
              <a:gd name="csX19" fmla="*/ 1030199 w 2338865"/>
              <a:gd name="csY19" fmla="*/ 1974598 h 1974598"/>
              <a:gd name="csX20" fmla="*/ 328919 w 2338865"/>
              <a:gd name="csY20" fmla="*/ 1974598 h 1974598"/>
              <a:gd name="csX21" fmla="*/ 328919 w 2338865"/>
              <a:gd name="csY21" fmla="*/ 1315848 h 1974598"/>
              <a:gd name="csX22" fmla="*/ 288116 w 2338865"/>
              <a:gd name="csY22" fmla="*/ 1343358 h 1974598"/>
              <a:gd name="csX23" fmla="*/ 207390 w 2338865"/>
              <a:gd name="csY23" fmla="*/ 1359656 h 1974598"/>
              <a:gd name="csX24" fmla="*/ 0 w 2338865"/>
              <a:gd name="csY24" fmla="*/ 1152266 h 1974598"/>
              <a:gd name="csX25" fmla="*/ 207390 w 2338865"/>
              <a:gd name="csY25" fmla="*/ 944876 h 1974598"/>
              <a:gd name="csX26" fmla="*/ 288116 w 2338865"/>
              <a:gd name="csY26" fmla="*/ 961174 h 1974598"/>
              <a:gd name="csX27" fmla="*/ 328919 w 2338865"/>
              <a:gd name="csY27" fmla="*/ 988685 h 1974598"/>
              <a:gd name="csX28" fmla="*/ 328919 w 2338865"/>
              <a:gd name="csY28" fmla="*/ 326773 h 1974598"/>
              <a:gd name="csX29" fmla="*/ 987803 w 2338865"/>
              <a:gd name="csY29" fmla="*/ 326773 h 1974598"/>
              <a:gd name="csX30" fmla="*/ 961739 w 2338865"/>
              <a:gd name="csY30" fmla="*/ 288115 h 1974598"/>
              <a:gd name="csX31" fmla="*/ 945441 w 2338865"/>
              <a:gd name="csY31" fmla="*/ 207390 h 1974598"/>
              <a:gd name="csX32" fmla="*/ 1152831 w 2338865"/>
              <a:gd name="csY32" fmla="*/ 0 h 197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338865" h="1974598">
                <a:moveTo>
                  <a:pt x="1152831" y="0"/>
                </a:moveTo>
                <a:cubicBezTo>
                  <a:pt x="1267369" y="0"/>
                  <a:pt x="1360221" y="92852"/>
                  <a:pt x="1360221" y="207390"/>
                </a:cubicBezTo>
                <a:cubicBezTo>
                  <a:pt x="1360221" y="236024"/>
                  <a:pt x="1354418" y="263304"/>
                  <a:pt x="1343923" y="288115"/>
                </a:cubicBezTo>
                <a:lnTo>
                  <a:pt x="1317860" y="326773"/>
                </a:lnTo>
                <a:lnTo>
                  <a:pt x="1976744" y="326773"/>
                </a:lnTo>
                <a:lnTo>
                  <a:pt x="1976744" y="1017610"/>
                </a:lnTo>
                <a:lnTo>
                  <a:pt x="1984829" y="1005619"/>
                </a:lnTo>
                <a:cubicBezTo>
                  <a:pt x="2022359" y="968089"/>
                  <a:pt x="2074206" y="944876"/>
                  <a:pt x="2131475" y="944876"/>
                </a:cubicBezTo>
                <a:cubicBezTo>
                  <a:pt x="2246013" y="944876"/>
                  <a:pt x="2338865" y="1037728"/>
                  <a:pt x="2338865" y="1152266"/>
                </a:cubicBezTo>
                <a:cubicBezTo>
                  <a:pt x="2338865" y="1266804"/>
                  <a:pt x="2246013" y="1359656"/>
                  <a:pt x="2131475" y="1359656"/>
                </a:cubicBezTo>
                <a:cubicBezTo>
                  <a:pt x="2074206" y="1359656"/>
                  <a:pt x="2022359" y="1336443"/>
                  <a:pt x="1984829" y="1298913"/>
                </a:cubicBezTo>
                <a:lnTo>
                  <a:pt x="1976744" y="1286922"/>
                </a:lnTo>
                <a:lnTo>
                  <a:pt x="1976744" y="1974598"/>
                </a:lnTo>
                <a:lnTo>
                  <a:pt x="1288791" y="1974598"/>
                </a:lnTo>
                <a:lnTo>
                  <a:pt x="1306142" y="1962900"/>
                </a:lnTo>
                <a:cubicBezTo>
                  <a:pt x="1343672" y="1925370"/>
                  <a:pt x="1366885" y="1873522"/>
                  <a:pt x="1366885" y="1816253"/>
                </a:cubicBezTo>
                <a:cubicBezTo>
                  <a:pt x="1366885" y="1701715"/>
                  <a:pt x="1274033" y="1608863"/>
                  <a:pt x="1159495" y="1608863"/>
                </a:cubicBezTo>
                <a:cubicBezTo>
                  <a:pt x="1044957" y="1608863"/>
                  <a:pt x="952105" y="1701715"/>
                  <a:pt x="952105" y="1816253"/>
                </a:cubicBezTo>
                <a:cubicBezTo>
                  <a:pt x="952105" y="1873522"/>
                  <a:pt x="975318" y="1925370"/>
                  <a:pt x="1012848" y="1962900"/>
                </a:cubicBezTo>
                <a:lnTo>
                  <a:pt x="1030199" y="1974598"/>
                </a:lnTo>
                <a:lnTo>
                  <a:pt x="328919" y="1974598"/>
                </a:lnTo>
                <a:lnTo>
                  <a:pt x="328919" y="1315848"/>
                </a:lnTo>
                <a:lnTo>
                  <a:pt x="288116" y="1343358"/>
                </a:lnTo>
                <a:cubicBezTo>
                  <a:pt x="263304" y="1353853"/>
                  <a:pt x="236025" y="1359656"/>
                  <a:pt x="207390" y="1359656"/>
                </a:cubicBezTo>
                <a:cubicBezTo>
                  <a:pt x="92852" y="1359656"/>
                  <a:pt x="0" y="1266804"/>
                  <a:pt x="0" y="1152266"/>
                </a:cubicBezTo>
                <a:cubicBezTo>
                  <a:pt x="0" y="1037728"/>
                  <a:pt x="92852" y="944876"/>
                  <a:pt x="207390" y="944876"/>
                </a:cubicBezTo>
                <a:cubicBezTo>
                  <a:pt x="236025" y="944876"/>
                  <a:pt x="263304" y="950679"/>
                  <a:pt x="288116" y="961174"/>
                </a:cubicBezTo>
                <a:lnTo>
                  <a:pt x="328919" y="988685"/>
                </a:lnTo>
                <a:lnTo>
                  <a:pt x="328919" y="326773"/>
                </a:lnTo>
                <a:lnTo>
                  <a:pt x="987803" y="326773"/>
                </a:lnTo>
                <a:lnTo>
                  <a:pt x="961739" y="288115"/>
                </a:lnTo>
                <a:cubicBezTo>
                  <a:pt x="951244" y="263304"/>
                  <a:pt x="945441" y="236024"/>
                  <a:pt x="945441" y="207390"/>
                </a:cubicBezTo>
                <a:cubicBezTo>
                  <a:pt x="945441" y="92852"/>
                  <a:pt x="1038293" y="0"/>
                  <a:pt x="1152831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1EDA-61DB-4A98-715B-4DF752CA8936}"/>
              </a:ext>
            </a:extLst>
          </p:cNvPr>
          <p:cNvSpPr txBox="1"/>
          <p:nvPr/>
        </p:nvSpPr>
        <p:spPr>
          <a:xfrm>
            <a:off x="594181" y="4912926"/>
            <a:ext cx="3607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Why did the model classify 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B05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specific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data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as this category?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4129-95CA-4DB4-DC97-40F65D4C7FFD}"/>
              </a:ext>
            </a:extLst>
          </p:cNvPr>
          <p:cNvSpPr txBox="1"/>
          <p:nvPr/>
        </p:nvSpPr>
        <p:spPr>
          <a:xfrm>
            <a:off x="385330" y="1780716"/>
            <a:ext cx="4025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/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C4D95B-80DF-D79B-2002-A79FFF504C21}"/>
              </a:ext>
            </a:extLst>
          </p:cNvPr>
          <p:cNvCxnSpPr>
            <a:cxnSpLocks/>
          </p:cNvCxnSpPr>
          <p:nvPr/>
        </p:nvCxnSpPr>
        <p:spPr>
          <a:xfrm>
            <a:off x="6726099" y="2328645"/>
            <a:ext cx="803212" cy="586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C19129-FA8A-CFFD-0EFD-A90F2B9FC339}"/>
              </a:ext>
            </a:extLst>
          </p:cNvPr>
          <p:cNvSpPr txBox="1"/>
          <p:nvPr/>
        </p:nvSpPr>
        <p:spPr>
          <a:xfrm>
            <a:off x="5076512" y="2101462"/>
            <a:ext cx="2012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Model</a:t>
            </a:r>
            <a:endParaRPr lang="en-K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E2B04D-7E26-BC71-F9E6-27B58D000907}"/>
              </a:ext>
            </a:extLst>
          </p:cNvPr>
          <p:cNvCxnSpPr>
            <a:cxnSpLocks/>
          </p:cNvCxnSpPr>
          <p:nvPr/>
        </p:nvCxnSpPr>
        <p:spPr>
          <a:xfrm>
            <a:off x="7906734" y="2101462"/>
            <a:ext cx="0" cy="8759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D6FB02-B225-928D-6573-B6E0E65A2FDC}"/>
              </a:ext>
            </a:extLst>
          </p:cNvPr>
          <p:cNvCxnSpPr>
            <a:cxnSpLocks/>
          </p:cNvCxnSpPr>
          <p:nvPr/>
        </p:nvCxnSpPr>
        <p:spPr>
          <a:xfrm flipV="1">
            <a:off x="8284158" y="2539420"/>
            <a:ext cx="569456" cy="4379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197119-04F1-A0DF-D28A-76AD26FF0A30}"/>
              </a:ext>
            </a:extLst>
          </p:cNvPr>
          <p:cNvSpPr txBox="1"/>
          <p:nvPr/>
        </p:nvSpPr>
        <p:spPr>
          <a:xfrm>
            <a:off x="6817083" y="1673754"/>
            <a:ext cx="222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Interpretable Model</a:t>
            </a:r>
            <a:endParaRPr lang="en-KR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9839E83-A67E-4CD7-3A11-3726A0AD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69" y="4261051"/>
            <a:ext cx="5814806" cy="101759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B816DC9-AFB7-862A-2536-25F6E26314FE}"/>
              </a:ext>
            </a:extLst>
          </p:cNvPr>
          <p:cNvSpPr txBox="1"/>
          <p:nvPr/>
        </p:nvSpPr>
        <p:spPr>
          <a:xfrm>
            <a:off x="8787628" y="2266341"/>
            <a:ext cx="2412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Locality-aware weight</a:t>
            </a:r>
            <a:endParaRPr lang="en-KR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68A686-EF12-E874-1AA5-AD7755CF6F18}"/>
              </a:ext>
            </a:extLst>
          </p:cNvPr>
          <p:cNvCxnSpPr>
            <a:cxnSpLocks/>
          </p:cNvCxnSpPr>
          <p:nvPr/>
        </p:nvCxnSpPr>
        <p:spPr>
          <a:xfrm>
            <a:off x="7089135" y="3331564"/>
            <a:ext cx="1626185" cy="0"/>
          </a:xfrm>
          <a:prstGeom prst="line">
            <a:avLst/>
          </a:prstGeom>
          <a:ln w="19050">
            <a:solidFill>
              <a:srgbClr val="275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349B63-1EBF-131C-001D-67701729A1EA}"/>
              </a:ext>
            </a:extLst>
          </p:cNvPr>
          <p:cNvCxnSpPr>
            <a:cxnSpLocks/>
          </p:cNvCxnSpPr>
          <p:nvPr/>
        </p:nvCxnSpPr>
        <p:spPr>
          <a:xfrm>
            <a:off x="9230642" y="4769846"/>
            <a:ext cx="417056" cy="617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741BD6-EBFF-8B21-677B-711A25BCC170}"/>
              </a:ext>
            </a:extLst>
          </p:cNvPr>
          <p:cNvCxnSpPr>
            <a:cxnSpLocks/>
          </p:cNvCxnSpPr>
          <p:nvPr/>
        </p:nvCxnSpPr>
        <p:spPr>
          <a:xfrm flipH="1">
            <a:off x="8105720" y="4782415"/>
            <a:ext cx="192544" cy="605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0C83B77-D865-E7D1-9E2F-FB8321D9EECE}"/>
              </a:ext>
            </a:extLst>
          </p:cNvPr>
          <p:cNvSpPr txBox="1"/>
          <p:nvPr/>
        </p:nvSpPr>
        <p:spPr>
          <a:xfrm>
            <a:off x="7297764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Input</a:t>
            </a:r>
            <a:endParaRPr lang="en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ADA5A7-514D-BC61-B92C-635DD0BEEF9B}"/>
              </a:ext>
            </a:extLst>
          </p:cNvPr>
          <p:cNvSpPr txBox="1"/>
          <p:nvPr/>
        </p:nvSpPr>
        <p:spPr>
          <a:xfrm>
            <a:off x="9484566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Sample Input</a:t>
            </a:r>
            <a:endParaRPr lang="en-KR" dirty="0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2A92A422-E536-C51A-445A-451A0BC84D2B}"/>
              </a:ext>
            </a:extLst>
          </p:cNvPr>
          <p:cNvSpPr/>
          <p:nvPr/>
        </p:nvSpPr>
        <p:spPr>
          <a:xfrm>
            <a:off x="7563602" y="34869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59FC63F3-FB54-FC7A-5EEB-A34011722300}"/>
              </a:ext>
            </a:extLst>
          </p:cNvPr>
          <p:cNvSpPr/>
          <p:nvPr/>
        </p:nvSpPr>
        <p:spPr>
          <a:xfrm>
            <a:off x="7716002" y="36393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8687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AAC81-FEA3-F2FB-565D-CA9426CEA361}"/>
              </a:ext>
            </a:extLst>
          </p:cNvPr>
          <p:cNvSpPr txBox="1"/>
          <p:nvPr/>
        </p:nvSpPr>
        <p:spPr>
          <a:xfrm>
            <a:off x="2094056" y="992009"/>
            <a:ext cx="8003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Example. Dog Classifier Model</a:t>
            </a:r>
            <a:endParaRPr lang="en-KR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232356-B224-5814-2E80-736383E8EDE8}"/>
              </a:ext>
            </a:extLst>
          </p:cNvPr>
          <p:cNvGrpSpPr/>
          <p:nvPr/>
        </p:nvGrpSpPr>
        <p:grpSpPr>
          <a:xfrm>
            <a:off x="1186318" y="2698140"/>
            <a:ext cx="2012623" cy="2414003"/>
            <a:chOff x="1186318" y="2698140"/>
            <a:chExt cx="2012623" cy="2414003"/>
          </a:xfrm>
        </p:grpSpPr>
        <p:pic>
          <p:nvPicPr>
            <p:cNvPr id="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FE2AC24-95D2-46FE-B728-ED0FA96D66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2812" y="2698140"/>
              <a:ext cx="1939636" cy="19396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E466A0-72D3-0E81-2BDE-B8913F7811D1}"/>
                </a:ext>
              </a:extLst>
            </p:cNvPr>
            <p:cNvSpPr txBox="1"/>
            <p:nvPr/>
          </p:nvSpPr>
          <p:spPr>
            <a:xfrm>
              <a:off x="1186318" y="4742811"/>
              <a:ext cx="2012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Original Input</a:t>
              </a:r>
              <a:endParaRPr lang="en-KR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F4961E-B508-56FA-EF06-AAC591CC9553}"/>
              </a:ext>
            </a:extLst>
          </p:cNvPr>
          <p:cNvGrpSpPr/>
          <p:nvPr/>
        </p:nvGrpSpPr>
        <p:grpSpPr>
          <a:xfrm>
            <a:off x="4284126" y="1938802"/>
            <a:ext cx="3468302" cy="4500874"/>
            <a:chOff x="4284126" y="1938802"/>
            <a:chExt cx="3468302" cy="45008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F03C86-F677-EF56-5732-8346C0A49A8F}"/>
                </a:ext>
              </a:extLst>
            </p:cNvPr>
            <p:cNvGrpSpPr/>
            <p:nvPr/>
          </p:nvGrpSpPr>
          <p:grpSpPr>
            <a:xfrm>
              <a:off x="4787571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7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BEE3F482-BAD8-4F8E-B419-A91834AE95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5A464A0-736B-7C44-F103-84B114DB2AB4}"/>
                  </a:ext>
                </a:extLst>
              </p:cNvPr>
              <p:cNvSpPr/>
              <p:nvPr/>
            </p:nvSpPr>
            <p:spPr>
              <a:xfrm>
                <a:off x="4901828" y="1798125"/>
                <a:ext cx="505628" cy="68285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9F8C270-797B-72EC-5D6F-897131610D03}"/>
                </a:ext>
              </a:extLst>
            </p:cNvPr>
            <p:cNvGrpSpPr/>
            <p:nvPr/>
          </p:nvGrpSpPr>
          <p:grpSpPr>
            <a:xfrm>
              <a:off x="6098432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4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C9AF5645-4DC4-89EA-76B0-195F6DF0D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96841A4-83F9-4897-4002-0E066C177F19}"/>
                  </a:ext>
                </a:extLst>
              </p:cNvPr>
              <p:cNvSpPr/>
              <p:nvPr/>
            </p:nvSpPr>
            <p:spPr>
              <a:xfrm>
                <a:off x="4156364" y="1925904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71112D-685F-676A-F974-2B1CC410E95F}"/>
                  </a:ext>
                </a:extLst>
              </p:cNvPr>
              <p:cNvSpPr/>
              <p:nvPr/>
            </p:nvSpPr>
            <p:spPr>
              <a:xfrm>
                <a:off x="5612046" y="1905688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190B08C-CA38-02A9-0F62-E8609BFD26FB}"/>
                </a:ext>
              </a:extLst>
            </p:cNvPr>
            <p:cNvGrpSpPr/>
            <p:nvPr/>
          </p:nvGrpSpPr>
          <p:grpSpPr>
            <a:xfrm>
              <a:off x="478757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2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389AF525-0A35-0621-AF94-C953AC01ED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1CB3013-5147-7EA9-8F56-2FB40CAB06E7}"/>
                  </a:ext>
                </a:extLst>
              </p:cNvPr>
              <p:cNvSpPr/>
              <p:nvPr/>
            </p:nvSpPr>
            <p:spPr>
              <a:xfrm>
                <a:off x="4156364" y="3414236"/>
                <a:ext cx="1939636" cy="27002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7C0101-25AF-1484-B1BB-B924537F6A46}"/>
                </a:ext>
              </a:extLst>
            </p:cNvPr>
            <p:cNvGrpSpPr/>
            <p:nvPr/>
          </p:nvGrpSpPr>
          <p:grpSpPr>
            <a:xfrm>
              <a:off x="609848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0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FC7793AA-9A7C-03B7-0FCB-F0715EEB51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736C486-A26E-D604-1FAA-A523D4C3803F}"/>
                  </a:ext>
                </a:extLst>
              </p:cNvPr>
              <p:cNvSpPr/>
              <p:nvPr/>
            </p:nvSpPr>
            <p:spPr>
              <a:xfrm>
                <a:off x="4261606" y="2776438"/>
                <a:ext cx="533853" cy="84023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0F7B81-A33D-3F01-05AF-33150F39E91A}"/>
                </a:ext>
              </a:extLst>
            </p:cNvPr>
            <p:cNvGrpSpPr/>
            <p:nvPr/>
          </p:nvGrpSpPr>
          <p:grpSpPr>
            <a:xfrm>
              <a:off x="609848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8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09045F9E-B5C4-22D3-4792-B5C60B2F53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3062F3-C281-AC0D-F73B-F29345055A3F}"/>
                  </a:ext>
                </a:extLst>
              </p:cNvPr>
              <p:cNvSpPr/>
              <p:nvPr/>
            </p:nvSpPr>
            <p:spPr>
              <a:xfrm>
                <a:off x="4557084" y="2132534"/>
                <a:ext cx="1208827" cy="48088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CFA7D9-626F-2891-8931-62DE8244003A}"/>
                </a:ext>
              </a:extLst>
            </p:cNvPr>
            <p:cNvGrpSpPr/>
            <p:nvPr/>
          </p:nvGrpSpPr>
          <p:grpSpPr>
            <a:xfrm>
              <a:off x="478757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6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9976258F-A690-61AF-5D1E-3DADBA0E8C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9E16C-BE63-6A48-5835-8C3321EF8962}"/>
                  </a:ext>
                </a:extLst>
              </p:cNvPr>
              <p:cNvSpPr/>
              <p:nvPr/>
            </p:nvSpPr>
            <p:spPr>
              <a:xfrm>
                <a:off x="4661992" y="2678795"/>
                <a:ext cx="889397" cy="86464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84A99-1DC1-6372-670B-AAD9D9BE3E3D}"/>
                </a:ext>
              </a:extLst>
            </p:cNvPr>
            <p:cNvSpPr txBox="1"/>
            <p:nvPr/>
          </p:nvSpPr>
          <p:spPr>
            <a:xfrm>
              <a:off x="4284126" y="5793345"/>
              <a:ext cx="3468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Sampling for Local Exploration</a:t>
              </a:r>
              <a:b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(Super-pixels)</a:t>
              </a:r>
              <a:endParaRPr lang="en-KR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617B65-00C6-A783-C9CA-90B179C900DA}"/>
              </a:ext>
            </a:extLst>
          </p:cNvPr>
          <p:cNvGrpSpPr/>
          <p:nvPr/>
        </p:nvGrpSpPr>
        <p:grpSpPr>
          <a:xfrm>
            <a:off x="8325062" y="1938802"/>
            <a:ext cx="2418087" cy="4500873"/>
            <a:chOff x="8325062" y="1938802"/>
            <a:chExt cx="2418087" cy="450087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469D02-0E36-0278-DCF1-17E97A7E44EA}"/>
                </a:ext>
              </a:extLst>
            </p:cNvPr>
            <p:cNvSpPr/>
            <p:nvPr/>
          </p:nvSpPr>
          <p:spPr>
            <a:xfrm>
              <a:off x="8970269" y="4388174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7804FE-258A-3D8F-0CE6-AF12F138D99D}"/>
                </a:ext>
              </a:extLst>
            </p:cNvPr>
            <p:cNvSpPr/>
            <p:nvPr/>
          </p:nvSpPr>
          <p:spPr>
            <a:xfrm>
              <a:off x="8970269" y="3150679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E06B9C6-BFC6-5748-EFDA-73B233AACD78}"/>
                </a:ext>
              </a:extLst>
            </p:cNvPr>
            <p:cNvSpPr/>
            <p:nvPr/>
          </p:nvSpPr>
          <p:spPr>
            <a:xfrm>
              <a:off x="8970269" y="1938802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3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F616B6D0-EC0A-55A2-AC3F-1256C896B9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34" t="17241" r="16087" b="57966"/>
            <a:stretch>
              <a:fillRect/>
            </a:stretch>
          </p:blipFill>
          <p:spPr bwMode="auto">
            <a:xfrm>
              <a:off x="9187123" y="4584596"/>
              <a:ext cx="739140" cy="28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22E5ECC0-6CC3-6120-28A1-1330E79E20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38" t="44135" r="24619" b="16464"/>
            <a:stretch>
              <a:fillRect/>
            </a:stretch>
          </p:blipFill>
          <p:spPr bwMode="auto">
            <a:xfrm>
              <a:off x="9241846" y="3653497"/>
              <a:ext cx="587218" cy="44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E31D94F-6826-6A31-B874-9BD5BB7B9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6" r="76163" b="33841"/>
            <a:stretch>
              <a:fillRect/>
            </a:stretch>
          </p:blipFill>
          <p:spPr bwMode="auto">
            <a:xfrm>
              <a:off x="8977889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8E5B027C-8A61-D688-1E72-2CCE00B226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00" t="6096" r="-237" b="33841"/>
            <a:stretch>
              <a:fillRect/>
            </a:stretch>
          </p:blipFill>
          <p:spPr bwMode="auto">
            <a:xfrm>
              <a:off x="9821444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25A72A-1E44-8035-531B-8ADDBBA05169}"/>
                </a:ext>
              </a:extLst>
            </p:cNvPr>
            <p:cNvSpPr txBox="1"/>
            <p:nvPr/>
          </p:nvSpPr>
          <p:spPr>
            <a:xfrm>
              <a:off x="8325062" y="5793344"/>
              <a:ext cx="241808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Interpretable</a:t>
              </a:r>
              <a:r>
                <a:rPr lang="ko-KR" alt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b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Data Representations</a:t>
              </a:r>
              <a:endParaRPr lang="en-KR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CDE6-D09E-E71A-24D7-D8C85226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SERT - 5 MINUTE SAND HOURGLASS">
            <a:extLst>
              <a:ext uri="{FF2B5EF4-FFF2-40B4-BE49-F238E27FC236}">
                <a16:creationId xmlns:a16="http://schemas.microsoft.com/office/drawing/2014/main" id="{965CF433-A0FE-37BA-4153-262081F8B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0" b="10382"/>
          <a:stretch>
            <a:fillRect/>
          </a:stretch>
        </p:blipFill>
        <p:spPr bwMode="auto">
          <a:xfrm>
            <a:off x="9284913" y="4062400"/>
            <a:ext cx="2519840" cy="23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43F4A04-8DFD-AABE-00FA-7CED6B8E4E02}"/>
              </a:ext>
            </a:extLst>
          </p:cNvPr>
          <p:cNvSpPr txBox="1"/>
          <p:nvPr/>
        </p:nvSpPr>
        <p:spPr>
          <a:xfrm>
            <a:off x="866077" y="3593001"/>
            <a:ext cx="104598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It is a time</a:t>
            </a:r>
            <a:r>
              <a:rPr lang="en-US" altLang="ko-KR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consuming problem,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and o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ur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resources(time, money, 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etc.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are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not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infinit</a:t>
            </a:r>
            <a:r>
              <a:rPr lang="en-US" sz="3200" b="1" dirty="0">
                <a:solidFill>
                  <a:srgbClr val="C00000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170FD-DBC5-B0AD-86DE-F9B71C3666D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Real-world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/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Down Arrow 40">
            <a:extLst>
              <a:ext uri="{FF2B5EF4-FFF2-40B4-BE49-F238E27FC236}">
                <a16:creationId xmlns:a16="http://schemas.microsoft.com/office/drawing/2014/main" id="{7A0A6D52-E503-636E-F3FB-32DC87582447}"/>
              </a:ext>
            </a:extLst>
          </p:cNvPr>
          <p:cNvSpPr/>
          <p:nvPr/>
        </p:nvSpPr>
        <p:spPr>
          <a:xfrm>
            <a:off x="5757375" y="2726629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863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B483-939C-62AD-BF68-61B05B9A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124744-7B50-2D8A-3456-7BD0DCEA77A4}"/>
              </a:ext>
            </a:extLst>
          </p:cNvPr>
          <p:cNvSpPr/>
          <p:nvPr/>
        </p:nvSpPr>
        <p:spPr>
          <a:xfrm>
            <a:off x="1925782" y="3224318"/>
            <a:ext cx="8298873" cy="877163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5EA8-BE5C-8D5B-D517-B5821D69AE1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E58AE-3140-6270-30CE-2ECB0028C2C2}"/>
              </a:ext>
            </a:extLst>
          </p:cNvPr>
          <p:cNvSpPr txBox="1"/>
          <p:nvPr/>
        </p:nvSpPr>
        <p:spPr>
          <a:xfrm>
            <a:off x="722194" y="2713419"/>
            <a:ext cx="1074761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How can we find a more efficient explanation model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59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within the same budget?</a:t>
            </a:r>
            <a:endParaRPr kumimoji="0" lang="en-US" sz="5900" b="1" i="0" u="none" strike="noStrike" kern="1200" cap="none" spc="0" normalizeH="0" baseline="0" noProof="0" dirty="0">
              <a:ln>
                <a:noFill/>
              </a:ln>
              <a:solidFill>
                <a:srgbClr val="FFDB05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1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D005-D049-B04A-1D1B-F5625AFB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11BC4A-4F3F-BAEF-AE27-12B3C2E496C3}"/>
              </a:ext>
            </a:extLst>
          </p:cNvPr>
          <p:cNvSpPr/>
          <p:nvPr/>
        </p:nvSpPr>
        <p:spPr>
          <a:xfrm>
            <a:off x="199504" y="2331728"/>
            <a:ext cx="2964875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Dynamically choose the number of perturbation samples N for each instance, using more queries when the explanation is unstable and stopping early when it becomes stable.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E3381-CDE2-AFCB-8A26-D6AEA8B20A9F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D72F0-0174-FC9D-1F25-E5D608ADAD4F}"/>
              </a:ext>
            </a:extLst>
          </p:cNvPr>
          <p:cNvSpPr txBox="1"/>
          <p:nvPr/>
        </p:nvSpPr>
        <p:spPr>
          <a:xfrm>
            <a:off x="3023063" y="2420520"/>
            <a:ext cx="2881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Coarse-to-Fine </a:t>
            </a:r>
            <a:b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37E53-B39F-7AEF-64F6-88855F3A372F}"/>
              </a:ext>
            </a:extLst>
          </p:cNvPr>
          <p:cNvSpPr txBox="1"/>
          <p:nvPr/>
        </p:nvSpPr>
        <p:spPr>
          <a:xfrm>
            <a:off x="5778039" y="2420520"/>
            <a:ext cx="296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Repeated LIME with Split Budget and Aggregation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A86D5-178B-1F12-EA6B-483C96E80AC1}"/>
              </a:ext>
            </a:extLst>
          </p:cNvPr>
          <p:cNvSpPr txBox="1"/>
          <p:nvPr/>
        </p:nvSpPr>
        <p:spPr>
          <a:xfrm>
            <a:off x="4655127" y="966237"/>
            <a:ext cx="2881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Possible Directions</a:t>
            </a:r>
            <a:endParaRPr lang="en-KR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1D22E-F65D-4331-88F3-16071BCF4526}"/>
              </a:ext>
            </a:extLst>
          </p:cNvPr>
          <p:cNvSpPr/>
          <p:nvPr/>
        </p:nvSpPr>
        <p:spPr>
          <a:xfrm>
            <a:off x="199504" y="1682405"/>
            <a:ext cx="2964875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Adaptive Budget</a:t>
            </a:r>
            <a:endParaRPr lang="en-K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E3021-2AD1-1845-78F9-76B0DB75F4D6}"/>
              </a:ext>
            </a:extLst>
          </p:cNvPr>
          <p:cNvSpPr/>
          <p:nvPr/>
        </p:nvSpPr>
        <p:spPr>
          <a:xfrm>
            <a:off x="3276600" y="1682405"/>
            <a:ext cx="533954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 Optimization</a:t>
            </a:r>
            <a:endParaRPr lang="en-K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21D99-FE64-5434-A08F-ACE3D4F94A50}"/>
              </a:ext>
            </a:extLst>
          </p:cNvPr>
          <p:cNvSpPr/>
          <p:nvPr/>
        </p:nvSpPr>
        <p:spPr>
          <a:xfrm>
            <a:off x="8733904" y="1682405"/>
            <a:ext cx="326967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Balanced Mask Sampling</a:t>
            </a:r>
            <a:endParaRPr lang="en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CF05CC-19C5-6ED7-5AB1-7CDC4285EA50}"/>
              </a:ext>
            </a:extLst>
          </p:cNvPr>
          <p:cNvSpPr/>
          <p:nvPr/>
        </p:nvSpPr>
        <p:spPr>
          <a:xfrm>
            <a:off x="3276601" y="2331727"/>
            <a:ext cx="2453640" cy="3547299"/>
          </a:xfrm>
          <a:prstGeom prst="rect">
            <a:avLst/>
          </a:prstGeom>
          <a:noFill/>
          <a:ln w="38100">
            <a:solidFill>
              <a:srgbClr val="275D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Spend a small budget to quickly find candidate important features first, then use the remaining budget to refine the explanation by focusing perturbations on those candidates.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0B445-7F8E-AEDA-00E7-B076659A3175}"/>
              </a:ext>
            </a:extLst>
          </p:cNvPr>
          <p:cNvSpPr/>
          <p:nvPr/>
        </p:nvSpPr>
        <p:spPr>
          <a:xfrm>
            <a:off x="8733904" y="2331728"/>
            <a:ext cx="325859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Design perturbation masks so each feature is turned on and off a similar number of times, reducing sampling variance and making LIME more stable under small 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F66B7-C115-C4D4-D92D-DFDD835B926B}"/>
              </a:ext>
            </a:extLst>
          </p:cNvPr>
          <p:cNvSpPr/>
          <p:nvPr/>
        </p:nvSpPr>
        <p:spPr>
          <a:xfrm>
            <a:off x="5836921" y="2331728"/>
            <a:ext cx="277922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Split the budget N into R smaller runs, run LIME R times with different seeds, and then aggregate the feature weights (e.g., mean or median) to produce the final explanation.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362D3E7-039D-661F-7F70-2CA6ABFEB938}"/>
              </a:ext>
            </a:extLst>
          </p:cNvPr>
          <p:cNvSpPr/>
          <p:nvPr/>
        </p:nvSpPr>
        <p:spPr>
          <a:xfrm rot="10800000">
            <a:off x="4164795" y="6133529"/>
            <a:ext cx="490331" cy="508519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90A7F9-83D6-C46B-A71B-D3C621FF20E1}"/>
              </a:ext>
            </a:extLst>
          </p:cNvPr>
          <p:cNvCxnSpPr>
            <a:cxnSpLocks/>
          </p:cNvCxnSpPr>
          <p:nvPr/>
        </p:nvCxnSpPr>
        <p:spPr>
          <a:xfrm>
            <a:off x="3474003" y="3174498"/>
            <a:ext cx="20733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CB24616-A937-B8D9-DD1E-2C2236E8C1DD}"/>
              </a:ext>
            </a:extLst>
          </p:cNvPr>
          <p:cNvCxnSpPr>
            <a:cxnSpLocks/>
          </p:cNvCxnSpPr>
          <p:nvPr/>
        </p:nvCxnSpPr>
        <p:spPr>
          <a:xfrm>
            <a:off x="5913600" y="3174498"/>
            <a:ext cx="25838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12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149" y="1370542"/>
            <a:ext cx="7471701" cy="4116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/>
              <a:t>We defined numerical metrics to evaluate explanations from four perspectives: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Fidelity</a:t>
            </a:r>
            <a:endParaRPr lang="en-US" altLang="zh-CN" b="1" dirty="0"/>
          </a:p>
          <a:p>
            <a:r>
              <a:rPr lang="en-US" altLang="zh-CN" b="1" dirty="0"/>
              <a:t> Stability</a:t>
            </a:r>
          </a:p>
          <a:p>
            <a:pPr marL="0" indent="0">
              <a:buNone/>
            </a:pPr>
            <a:r>
              <a:rPr lang="zh-CN" altLang="en-US" dirty="0"/>
              <a:t>★</a:t>
            </a:r>
            <a:r>
              <a:rPr lang="en-US" altLang="zh-CN" b="1" dirty="0"/>
              <a:t>Faithfulness</a:t>
            </a:r>
            <a:endParaRPr lang="en-US" altLang="zh-CN" dirty="0"/>
          </a:p>
          <a:p>
            <a:r>
              <a:rPr lang="en-US" altLang="zh-CN" b="1" dirty="0"/>
              <a:t> Cost: </a:t>
            </a:r>
            <a:r>
              <a:rPr lang="en-US" altLang="zh-CN" dirty="0"/>
              <a:t>Number of model queries (budget) and runtime per explanation.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EA6CE-ADF5-C4A6-AA1A-C4F6945C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53886-13DD-C35C-FC7D-DB9760130DA3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Fidelity: </a:t>
                </a:r>
                <a:r>
                  <a:rPr lang="en-US" altLang="zh-CN" dirty="0"/>
                  <a:t>Weighted Mean Squared Error (WMSE) between surrogate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and black box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on perturbed samples.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𝑊𝑀𝑆𝐸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Why do we need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/>
                  <a:t> for each surrogate explanation?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Samples closer to the original instance should matter more.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: the perturbation of original image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dirty="0"/>
                  <a:t>: the kernel that measures the similarity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  <a:blipFill>
                <a:blip r:embed="rId3"/>
                <a:stretch>
                  <a:fillRect l="-1292" t="-1837" r="-1907" b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1602-34FE-558E-46B3-126E363B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10CDE-9654-0A74-EFEF-13F4ED2DFA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Stability: </a:t>
                </a:r>
                <a:r>
                  <a:rPr lang="en-US" altLang="zh-CN" dirty="0"/>
                  <a:t>Jaccard overlap of top 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across repeated runs with different random seeds under the same budget.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𝑆𝑡𝑎𝑏𝑖𝑙𝑖𝑡𝑦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Where: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m: the number of runs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: the selected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in the corresponding round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  <a:blipFill>
                <a:blip r:embed="rId3"/>
                <a:stretch>
                  <a:fillRect l="-1292" t="-2363" r="-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97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71770-7271-381F-C00B-BCCCA529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87CD7-19D1-E8D2-EAC8-704E73F7B175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★</a:t>
                </a:r>
                <a:r>
                  <a:rPr lang="en-US" altLang="zh-CN" b="1" dirty="0"/>
                  <a:t>Faithfulness: </a:t>
                </a:r>
                <a:r>
                  <a:rPr lang="en-US" altLang="zh-CN" dirty="0"/>
                  <a:t>Drop of black box prediction probability after removing the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which is selected by the explainer.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𝐹𝑎𝑖𝑡h𝐷𝑟𝑜𝑝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Larger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more influential</a:t>
                </a:r>
              </a:p>
              <a:p>
                <a:r>
                  <a:rPr lang="en-US" altLang="zh-CN" dirty="0"/>
                  <a:t>Smaller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less influential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  <a:blipFill>
                <a:blip r:embed="rId3"/>
                <a:stretch>
                  <a:fillRect l="-1319" t="-3005" r="-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6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FA71-C49B-CBD3-3D9C-5255EEB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323057-2F48-DBC2-B41A-C930045365EA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Budget Sweep Pipeline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9363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0898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Explainer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dirty="0"/>
                            <a:t>, 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Segmentation S, target label c</a:t>
                          </a:r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Budge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dirty="0"/>
                            <a:t>, Seed</a:t>
                          </a:r>
                          <a:r>
                            <a:rPr lang="en-US" altLang="zh-CN" sz="2400" baseline="0" dirty="0"/>
                            <a:t>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b="0" baseline="0" dirty="0"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top_k_superpixels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𝑓𝑎𝑖𝑡h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𝑓𝑖𝑑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FaithDrop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𝑊𝑀𝑆𝐸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kern="1200" baseline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18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𝑓𝑎𝑖𝑡h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𝑓𝑖𝑑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  <a:endParaRPr kumimoji="0" lang="en-US" altLang="zh-CN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𝑏𝑢𝑑𝑔𝑒𝑡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Stability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Jaccard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𝐾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</a:t>
                          </a: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69630" r="-335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30738" r="-335" b="-1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C1ADE-6E44-6C8D-EA3F-3BCEE936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6AC91-B231-3758-16E3-371BA114E5B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8916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2674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54936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altLang="zh-CN" sz="2400" i="1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adaptive_coarse_ration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Coarse(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get_superpixels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Fine(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altLang="zh-CN" sz="2400" b="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return</a:t>
                          </a: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73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11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1627" r="-316" b="-3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80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05966-D485-2D59-8C85-833B0A6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554F4-4E3E-CB26-CE88-EB282A935C7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ea typeface="Freesentation 9 Black" pitchFamily="2" charset="-127"/>
              </a:rPr>
              <a:t>Coarse-to-Fine Budget Allocation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2081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06242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156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89487" r="-316" b="-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396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F08EE-A1F1-7238-69D8-AAC26AB9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39215C-1D15-1BD8-2630-0788D20D2EAC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800" b="1" dirty="0">
              <a:solidFill>
                <a:prstClr val="white"/>
              </a:solidFill>
              <a:ea typeface="Freesentation 9 Black" pitchFamily="2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rand() &lt;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else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sample_focused_on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Cset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if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9001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4446" r="-316" b="-3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158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Experiment Setup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900000"/>
            <a:ext cx="54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General Settings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Black-box model: </a:t>
            </a:r>
            <a:r>
              <a:rPr lang="en-US" sz="2400" dirty="0">
                <a:latin typeface="Calibri"/>
              </a:rPr>
              <a:t>ResNet-18 (pretrained, ImageNet)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Test image: </a:t>
            </a:r>
            <a:r>
              <a:rPr lang="en-US" sz="2400" dirty="0">
                <a:latin typeface="Calibri"/>
              </a:rPr>
              <a:t>skimage.data.cat() → class 285 “Egyptian cat”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Segmentation: </a:t>
            </a:r>
            <a:r>
              <a:rPr lang="en-US" sz="2400" dirty="0">
                <a:latin typeface="Calibri"/>
              </a:rPr>
              <a:t>SLIC, 100 superpixels, fixed across all runs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Budget levels: </a:t>
            </a:r>
            <a:r>
              <a:rPr lang="en-US" sz="2400" dirty="0">
                <a:latin typeface="Calibri"/>
              </a:rPr>
              <a:t>N ∈ {200, 500, 1000, 2000, 3000, 5000}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Repetitions: </a:t>
            </a:r>
            <a:r>
              <a:rPr lang="en-US" sz="2400" dirty="0">
                <a:latin typeface="Calibri"/>
              </a:rPr>
              <a:t>10 random seeds per budget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Surrogate: </a:t>
            </a:r>
            <a:r>
              <a:rPr lang="en-US" sz="2400" dirty="0">
                <a:latin typeface="Calibri"/>
              </a:rPr>
              <a:t>Ridge regression (α=1), cosine distance, exp kernel (width=0.25)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Top-k = 10, </a:t>
            </a:r>
            <a:r>
              <a:rPr lang="en-US" sz="2400" dirty="0">
                <a:latin typeface="Calibri"/>
              </a:rPr>
              <a:t>hide_color = 0 (black)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00000" y="900000"/>
            <a:ext cx="54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Coarse-to-Fine Settings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Adaptive coarse fraction: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50% when N ≤ 500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30% when N ≤ 2000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20% otherwise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candidate_k = 20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ε = 0.2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batch_size =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Vanilla LIME</a:t>
            </a:r>
          </a:p>
        </p:txBody>
      </p:sp>
      <p:pic>
        <p:nvPicPr>
          <p:cNvPr id="3" name="Tab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64" y="654909"/>
            <a:ext cx="10931272" cy="393525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57200" y="4700000"/>
            <a:ext cx="11200000" cy="1800000"/>
          </a:xfrm>
          <a:prstGeom prst="rect">
            <a:avLst/>
          </a:prstGeom>
          <a:solidFill>
            <a:srgbClr val="F0F5F1"/>
          </a:solidFill>
          <a:ln w="12700">
            <a:solidFill>
              <a:srgbClr val="275D38"/>
            </a:solidFill>
          </a:ln>
        </p:spPr>
        <p:txBody>
          <a:bodyPr wrap="square" lIns="144000" tIns="72000" rIns="144000" bIns="72000" rtlCol="0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Key Findings: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At N ≤ 1000: Faithfulness is negative → explanation points to wrong regions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Stability &lt; 0.1 → explanations are not reproducible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9DBB-E687-BDA1-C1E4-534800DC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E3E7DA-483C-9E41-6DC1-CEF20F71F6A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>
            <a:extLst>
              <a:ext uri="{FF2B5EF4-FFF2-40B4-BE49-F238E27FC236}">
                <a16:creationId xmlns:a16="http://schemas.microsoft.com/office/drawing/2014/main" id="{FCEAB611-29E7-BCD0-BD3E-46B524E4826B}"/>
              </a:ext>
            </a:extLst>
          </p:cNvPr>
          <p:cNvPicPr>
            <a:picLocks/>
          </p:cNvPicPr>
          <p:nvPr/>
        </p:nvPicPr>
        <p:blipFill>
          <a:blip r:embed="rId2"/>
          <a:srcRect b="51427"/>
          <a:stretch>
            <a:fillRect/>
          </a:stretch>
        </p:blipFill>
        <p:spPr>
          <a:xfrm>
            <a:off x="457200" y="799999"/>
            <a:ext cx="11280000" cy="60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21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F915-77A2-73E6-2C0F-9C251397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6624-D423-13C3-3D28-D243133322BE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>
            <a:extLst>
              <a:ext uri="{FF2B5EF4-FFF2-40B4-BE49-F238E27FC236}">
                <a16:creationId xmlns:a16="http://schemas.microsoft.com/office/drawing/2014/main" id="{79D8D547-3DF8-40F9-16FB-AADBCDD5E6DB}"/>
              </a:ext>
            </a:extLst>
          </p:cNvPr>
          <p:cNvPicPr>
            <a:picLocks/>
          </p:cNvPicPr>
          <p:nvPr/>
        </p:nvPicPr>
        <p:blipFill>
          <a:blip r:embed="rId2"/>
          <a:srcRect t="50592"/>
          <a:stretch>
            <a:fillRect/>
          </a:stretch>
        </p:blipFill>
        <p:spPr>
          <a:xfrm>
            <a:off x="457200" y="654909"/>
            <a:ext cx="11280000" cy="62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89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0000"/>
            <a:ext cx="5434927" cy="570374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0" y="1037042"/>
            <a:ext cx="5978925" cy="23919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/>
              </a:rPr>
              <a:t>N=200: </a:t>
            </a:r>
            <a:r>
              <a:rPr lang="en-US" sz="2800" dirty="0">
                <a:latin typeface="Calibri"/>
              </a:rPr>
              <a:t>Scattered, inconsistent highlights — explanation is noise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/>
              </a:rPr>
              <a:t>N=5000: </a:t>
            </a:r>
            <a:r>
              <a:rPr lang="en-US" sz="2800" dirty="0">
                <a:latin typeface="Calibri"/>
              </a:rPr>
              <a:t>Consistently focuses on cat’s facial features (eyes, nose)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Improvement Results: Coarse-to-Fine</a:t>
            </a:r>
          </a:p>
        </p:txBody>
      </p:sp>
      <p:pic>
        <p:nvPicPr>
          <p:cNvPr id="3" name="Tab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850000"/>
            <a:ext cx="10000000" cy="3600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57200" y="4700000"/>
            <a:ext cx="11200000" cy="1800000"/>
          </a:xfrm>
          <a:prstGeom prst="rect">
            <a:avLst/>
          </a:prstGeom>
          <a:solidFill>
            <a:srgbClr val="F0F5F1"/>
          </a:solidFill>
          <a:ln w="12700">
            <a:solidFill>
              <a:srgbClr val="275D38"/>
            </a:solidFill>
          </a:ln>
        </p:spPr>
        <p:txBody>
          <a:bodyPr wrap="square" lIns="144000" tIns="72000" rIns="144000" bIns="72000" rtlCol="0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Key Findings: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Faithfulness positive at ALL budgets (vanilla is negative at N ≤ 500)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At N=500: Drop-k improves from −0.019 → 0.224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Vanilla LIME vs. Coarse-to-Fine: Metric Comparison</a:t>
            </a:r>
          </a:p>
        </p:txBody>
      </p:sp>
      <p:pic>
        <p:nvPicPr>
          <p:cNvPr id="3" name="Comparison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0000"/>
            <a:ext cx="7500000" cy="5700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100000" y="900000"/>
            <a:ext cx="4092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Per-Metric Summary: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Faithfulness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>
                <a:latin typeface="Calibri"/>
              </a:rPr>
              <a:t>C2F consistently higher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Fidelity (WMSE)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>
                <a:latin typeface="Calibri"/>
              </a:rPr>
              <a:t>C2F much lower, but not directly comparable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Stability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>
                <a:latin typeface="Calibri"/>
              </a:rPr>
              <a:t>Mixed — slightly better at low N, worse at high 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Runtime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latin typeface="Calibri"/>
              </a:rPr>
              <a:t>Comparable across both methods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Discussion: Fidelity (WMSE) Across Methods</a:t>
            </a:r>
          </a:p>
        </p:txBody>
      </p:sp>
      <p:sp>
        <p:nvSpPr>
          <p:cNvPr id="3" name="Left Card"/>
          <p:cNvSpPr/>
          <p:nvPr/>
        </p:nvSpPr>
        <p:spPr>
          <a:xfrm>
            <a:off x="457200" y="900000"/>
            <a:ext cx="5200000" cy="3800000"/>
          </a:xfrm>
          <a:prstGeom prst="roundRect">
            <a:avLst>
              <a:gd name="adj" fmla="val 5000"/>
            </a:avLst>
          </a:prstGeom>
          <a:solidFill>
            <a:srgbClr val="F0F5F1"/>
          </a:solidFill>
          <a:ln w="19050">
            <a:solidFill>
              <a:srgbClr val="275D38"/>
            </a:solidFill>
          </a:ln>
        </p:spPr>
        <p:txBody>
          <a:bodyPr wrap="square" lIns="180000" tIns="144000" rIns="180000" bIns="144000" rtlCol="0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Vanilla LIME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All 100 superpixels randomly toggled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Ridge fits 100-dimensional space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C0000"/>
                </a:solidFill>
                <a:latin typeface="Calibri"/>
              </a:rPr>
              <a:t>Higher WMSE</a:t>
            </a:r>
          </a:p>
        </p:txBody>
      </p:sp>
      <p:sp>
        <p:nvSpPr>
          <p:cNvPr id="4" name="Right Card"/>
          <p:cNvSpPr/>
          <p:nvPr/>
        </p:nvSpPr>
        <p:spPr>
          <a:xfrm>
            <a:off x="6500000" y="900000"/>
            <a:ext cx="5200000" cy="3800000"/>
          </a:xfrm>
          <a:prstGeom prst="roundRect">
            <a:avLst>
              <a:gd name="adj" fmla="val 5000"/>
            </a:avLst>
          </a:prstGeom>
          <a:solidFill>
            <a:srgbClr val="F0F5F1"/>
          </a:solidFill>
          <a:ln w="19050">
            <a:solidFill>
              <a:srgbClr val="275D38"/>
            </a:solidFill>
          </a:ln>
        </p:spPr>
        <p:txBody>
          <a:bodyPr wrap="square" lIns="180000" tIns="144000" rIns="180000" bIns="144000" rtlCol="0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Coarse-to-Fine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Non-candidate superpixels stay ON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Ridge only fits ~40 candidate dims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Lower WMSE</a:t>
            </a:r>
            <a:r>
              <a:rPr lang="en-US" sz="2800" dirty="0">
                <a:latin typeface="Calibri"/>
              </a:rPr>
              <a:t> (fitting is easier, not necessarily better)</a:t>
            </a:r>
          </a:p>
        </p:txBody>
      </p:sp>
      <p:sp>
        <p:nvSpPr>
          <p:cNvPr id="5" name="VS Text"/>
          <p:cNvSpPr txBox="1"/>
          <p:nvPr/>
        </p:nvSpPr>
        <p:spPr>
          <a:xfrm>
            <a:off x="5400000" y="2300000"/>
            <a:ext cx="1400000" cy="5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999999"/>
                </a:solidFill>
                <a:latin typeface="Calibri"/>
              </a:rPr>
              <a:t>vs.</a:t>
            </a:r>
          </a:p>
        </p:txBody>
      </p:sp>
      <p:sp>
        <p:nvSpPr>
          <p:cNvPr id="6" name="Bottom Takeaway"/>
          <p:cNvSpPr txBox="1"/>
          <p:nvPr/>
        </p:nvSpPr>
        <p:spPr>
          <a:xfrm>
            <a:off x="457200" y="5200000"/>
            <a:ext cx="11280000" cy="1100000"/>
          </a:xfrm>
          <a:prstGeom prst="rect">
            <a:avLst/>
          </a:prstGeom>
          <a:solidFill>
            <a:srgbClr val="275D38"/>
          </a:solidFill>
        </p:spPr>
        <p:txBody>
          <a:bodyPr wrap="square" lIns="180000" tIns="72000" rIns="180000" bIns="72000" rtlCol="0" anchor="ctr"/>
          <a:lstStyle/>
          <a:p>
            <a:pPr algn="ctr">
              <a:buNone/>
            </a:pPr>
            <a:r>
              <a:rPr lang="en-US" sz="2400" b="1" dirty="0">
                <a:solidFill>
                  <a:prstClr val="white"/>
                </a:solidFill>
                <a:latin typeface="Calibri"/>
              </a:rPr>
              <a:t>WMSE is useful for within-method budget trends, not for cross-method comparison.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Conclusion &amp; Future Work</a:t>
            </a:r>
          </a:p>
        </p:txBody>
      </p:sp>
      <p:sp>
        <p:nvSpPr>
          <p:cNvPr id="3" name="Conclusion Box"/>
          <p:cNvSpPr/>
          <p:nvPr/>
        </p:nvSpPr>
        <p:spPr>
          <a:xfrm>
            <a:off x="457200" y="900000"/>
            <a:ext cx="55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Conclusion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Built budget sweep evaluation framework with 4 metrics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Vanilla LIME is unreliable when N &lt; 1000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Coarse-to-fine improves faithfulness at all budgets, highlights meaningful regions at N=500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No additional query overhead</a:t>
            </a:r>
          </a:p>
        </p:txBody>
      </p:sp>
      <p:sp>
        <p:nvSpPr>
          <p:cNvPr id="4" name="Future Work Box"/>
          <p:cNvSpPr/>
          <p:nvPr/>
        </p:nvSpPr>
        <p:spPr>
          <a:xfrm>
            <a:off x="6300000" y="900000"/>
            <a:ext cx="55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Future Work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Test on more images and models (VGG, ViT)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Explore alternative sampling strategies for better stability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Automatic hyperparameter tuning (coarse fraction, ε, candidate_k)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Extend to tabular/text LIME</a:t>
            </a:r>
          </a:p>
        </p:txBody>
      </p:sp>
      <p:sp>
        <p:nvSpPr>
          <p:cNvPr id="5" name="Divider"/>
          <p:cNvSpPr/>
          <p:nvPr/>
        </p:nvSpPr>
        <p:spPr>
          <a:xfrm>
            <a:off x="6100000" y="1000000"/>
            <a:ext cx="0" cy="4800000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1635</TotalTime>
  <Words>1431</Words>
  <Application>Microsoft Office PowerPoint</Application>
  <PresentationFormat>宽屏</PresentationFormat>
  <Paragraphs>216</Paragraphs>
  <Slides>27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Freesentation 2 ExtraLight</vt:lpstr>
      <vt:lpstr>Freesentation 4 Regular</vt:lpstr>
      <vt:lpstr>Freesentation 8 ExtraBold</vt:lpstr>
      <vt:lpstr>Freesentation 9 Black</vt:lpstr>
      <vt:lpstr>等线</vt:lpstr>
      <vt:lpstr>Arial</vt:lpstr>
      <vt:lpstr>Calibri</vt:lpstr>
      <vt:lpstr>Calibri Light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Zixi Chai</cp:lastModifiedBy>
  <cp:revision>180</cp:revision>
  <dcterms:created xsi:type="dcterms:W3CDTF">2013-01-27T09:14:00Z</dcterms:created>
  <dcterms:modified xsi:type="dcterms:W3CDTF">2026-03-30T07:05:28Z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