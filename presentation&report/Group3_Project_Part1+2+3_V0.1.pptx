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9"/>
  </p:notesMasterIdLst>
  <p:sldIdLst>
    <p:sldId id="256" r:id="rId2"/>
    <p:sldId id="289" r:id="rId3"/>
    <p:sldId id="302" r:id="rId4"/>
    <p:sldId id="282" r:id="rId5"/>
    <p:sldId id="303" r:id="rId6"/>
    <p:sldId id="304" r:id="rId7"/>
    <p:sldId id="305" r:id="rId8"/>
    <p:sldId id="290" r:id="rId9"/>
    <p:sldId id="275" r:id="rId10"/>
    <p:sldId id="299" r:id="rId11"/>
    <p:sldId id="300" r:id="rId12"/>
    <p:sldId id="301" r:id="rId13"/>
    <p:sldId id="294" r:id="rId14"/>
    <p:sldId id="297" r:id="rId15"/>
    <p:sldId id="298" r:id="rId16"/>
    <p:sldId id="295" r:id="rId17"/>
    <p:sldId id="291" r:id="rId18"/>
    <p:sldId id="307" r:id="rId19"/>
    <p:sldId id="308" r:id="rId20"/>
    <p:sldId id="314" r:id="rId21"/>
    <p:sldId id="315" r:id="rId22"/>
    <p:sldId id="309" r:id="rId23"/>
    <p:sldId id="310" r:id="rId24"/>
    <p:sldId id="311" r:id="rId25"/>
    <p:sldId id="312" r:id="rId26"/>
    <p:sldId id="313" r:id="rId27"/>
    <p:sldId id="263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75D38"/>
    <a:srgbClr val="FFDB05"/>
    <a:srgbClr val="FFFFFF"/>
    <a:srgbClr val="F2F4C1"/>
    <a:srgbClr val="00A856"/>
    <a:srgbClr val="007C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32"/>
    <p:restoredTop sz="97046"/>
  </p:normalViewPr>
  <p:slideViewPr>
    <p:cSldViewPr snapToGrid="0" snapToObjects="1" showGuides="1">
      <p:cViewPr varScale="1">
        <p:scale>
          <a:sx n="113" d="100"/>
          <a:sy n="113" d="100"/>
        </p:scale>
        <p:origin x="462" y="114"/>
      </p:cViewPr>
      <p:guideLst>
        <p:guide orient="horz" pos="2122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FA587A-38EB-4614-822E-5EB92258F22F}" type="datetimeFigureOut">
              <a:rPr lang="zh-CN" altLang="en-US" smtClean="0"/>
              <a:t>2026/4/2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76D7B1-ACE4-4C69-9C37-FE05AA497FB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9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1AC6E-D177-2B24-B8E1-4333D723B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D0CBE4-CA02-5D6F-B0E1-2C9D53F445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C93AD-19A2-1070-2ADA-6F5A388CF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4C664-B32F-4B82-D43C-7D2A5EE4D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65456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DD3B-44D5-7454-9485-711A8F60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9D456B-EAAE-F8E4-C4EA-7EE41F5E3E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B7B2B0-30F4-4EE8-11EA-A2D92F685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C25B3-A845-071A-3412-25FFB4C47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82452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02C1A-7BEB-7E74-0F4C-3787BCE0C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F35641-FD54-24EC-A3D0-5478AF9B6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03C5E2-1CFF-947B-4B23-5846054568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A4C39-AB6C-1B97-B207-4F19182A17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07472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4CC98-DBC0-BA7E-68A1-7E3B0031D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6213A8-32B3-337B-D665-BF8F25F38C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6C5316-6A74-F38D-AAA9-084E7B5676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F1F496-06FC-5E7D-F123-3FA5BEC50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883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3B9CC-64A2-8EEA-1310-391371596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75E842-B4E0-F911-9B83-9E18C7B824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00421-0B35-29E6-986D-74D33CDAE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22563-87CB-01F3-965E-20E30D0E0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38240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7838-1AB8-3F00-6A16-05975F2B2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10200F-814E-BA18-33CB-61481164D6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07A108-2776-84E2-80E1-01D02B562F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F611C-2FFC-7700-C2DC-95EDB7F00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76473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811E6-52DD-A207-DDD2-EDA8EBB65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80C2B-189B-D9B4-4A21-4FB40CF1A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9C18A5-9566-A095-F416-FA814BC81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4BE34-074D-B698-BC54-9ADDAB6527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76D7B1-ACE4-4C69-9C37-FE05AA497FB2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26902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B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/>
          <p:cNvSpPr/>
          <p:nvPr/>
        </p:nvSpPr>
        <p:spPr>
          <a:xfrm>
            <a:off x="52405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/>
          <p:cNvSpPr txBox="1"/>
          <p:nvPr/>
        </p:nvSpPr>
        <p:spPr>
          <a:xfrm>
            <a:off x="291225" y="2063794"/>
            <a:ext cx="8903575" cy="273041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54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Reliable LIME under</a:t>
            </a:r>
          </a:p>
          <a:p>
            <a:pPr algn="l"/>
            <a:r>
              <a:rPr lang="en-US" altLang="zh-CN" sz="54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Query Budget Constraints</a:t>
            </a:r>
          </a:p>
        </p:txBody>
      </p:sp>
      <p:pic>
        <p:nvPicPr>
          <p:cNvPr id="1026" name="Picture 2" descr="Connection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532" y="6020989"/>
            <a:ext cx="1480457" cy="404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itle 1"/>
          <p:cNvSpPr txBox="1"/>
          <p:nvPr/>
        </p:nvSpPr>
        <p:spPr>
          <a:xfrm>
            <a:off x="409420" y="449459"/>
            <a:ext cx="3147138" cy="56524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altLang="zh-CN" sz="2000" b="1" dirty="0">
                <a:solidFill>
                  <a:schemeClr val="bg1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2026 Winter ECE 720 </a:t>
            </a:r>
          </a:p>
          <a:p>
            <a:pPr algn="l"/>
            <a:r>
              <a:rPr lang="en-US" altLang="zh-CN" sz="2000" dirty="0">
                <a:solidFill>
                  <a:schemeClr val="bg1"/>
                </a:solidFill>
                <a:latin typeface="Freesentation 2 ExtraLight" pitchFamily="2" charset="-127"/>
                <a:ea typeface="Freesentation 2 ExtraLight" pitchFamily="2" charset="-127"/>
                <a:cs typeface="Times New Roman" panose="02020603050405020304" pitchFamily="18" charset="0"/>
              </a:rPr>
              <a:t>Group Final Project</a:t>
            </a:r>
          </a:p>
        </p:txBody>
      </p:sp>
      <p:sp>
        <p:nvSpPr>
          <p:cNvPr id="55" name="Subtitle 2"/>
          <p:cNvSpPr txBox="1"/>
          <p:nvPr/>
        </p:nvSpPr>
        <p:spPr>
          <a:xfrm>
            <a:off x="10108591" y="3150653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Wonki Byun</a:t>
            </a:r>
          </a:p>
        </p:txBody>
      </p:sp>
      <p:sp>
        <p:nvSpPr>
          <p:cNvPr id="56" name="Subtitle 2"/>
          <p:cNvSpPr txBox="1"/>
          <p:nvPr/>
        </p:nvSpPr>
        <p:spPr>
          <a:xfrm>
            <a:off x="10108591" y="4512988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 err="1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Qihang</a:t>
            </a:r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Feng </a:t>
            </a:r>
            <a:endParaRPr lang="en-US" altLang="zh-CN" sz="1600" dirty="0"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10028615" y="2213447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zchai3@ualberta.ca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28615" y="3624914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wonki@ualberta.ca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028615" y="4963393"/>
            <a:ext cx="1872160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qfeng5@ualberta.ca</a:t>
            </a:r>
          </a:p>
        </p:txBody>
      </p:sp>
      <p:sp>
        <p:nvSpPr>
          <p:cNvPr id="60" name="Subtitle 2"/>
          <p:cNvSpPr txBox="1"/>
          <p:nvPr/>
        </p:nvSpPr>
        <p:spPr>
          <a:xfrm>
            <a:off x="10108591" y="1761393"/>
            <a:ext cx="1712208" cy="4048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Zixi Chai</a:t>
            </a:r>
          </a:p>
        </p:txBody>
      </p:sp>
      <p:sp>
        <p:nvSpPr>
          <p:cNvPr id="62" name="Subtitle 2"/>
          <p:cNvSpPr txBox="1"/>
          <p:nvPr/>
        </p:nvSpPr>
        <p:spPr>
          <a:xfrm>
            <a:off x="10108591" y="643601"/>
            <a:ext cx="1712208" cy="404813"/>
          </a:xfrm>
          <a:prstGeom prst="roundRect">
            <a:avLst>
              <a:gd name="adj" fmla="val 18926"/>
            </a:avLst>
          </a:prstGeom>
          <a:solidFill>
            <a:srgbClr val="275D38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b="1" dirty="0">
                <a:solidFill>
                  <a:schemeClr val="bg1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Group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1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8514" y="2998113"/>
            <a:ext cx="9067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Background and Motivation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29039-5F55-EB1A-2A75-AC78CCEF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55041E7-0BAB-6768-A47B-BDA28400A34D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latin typeface="Freesentation 9 Black" pitchFamily="2" charset="-127"/>
                <a:ea typeface="Freesentation 9 Black" pitchFamily="2" charset="-127"/>
              </a:rPr>
              <a:t>LIME(Local Interpretable Model-agnostic Explanations)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F45F49-45AC-F2E5-A3FB-657EFBF1771E}"/>
              </a:ext>
            </a:extLst>
          </p:cNvPr>
          <p:cNvSpPr/>
          <p:nvPr/>
        </p:nvSpPr>
        <p:spPr>
          <a:xfrm>
            <a:off x="1251160" y="5180671"/>
            <a:ext cx="866782" cy="292387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38B90E-B2FC-5000-5770-B8A2A5A35563}"/>
              </a:ext>
            </a:extLst>
          </p:cNvPr>
          <p:cNvSpPr/>
          <p:nvPr/>
        </p:nvSpPr>
        <p:spPr>
          <a:xfrm>
            <a:off x="1240415" y="2651908"/>
            <a:ext cx="2338865" cy="1974598"/>
          </a:xfrm>
          <a:custGeom>
            <a:avLst/>
            <a:gdLst>
              <a:gd name="csX0" fmla="*/ 1152831 w 2338865"/>
              <a:gd name="csY0" fmla="*/ 0 h 1974598"/>
              <a:gd name="csX1" fmla="*/ 1360221 w 2338865"/>
              <a:gd name="csY1" fmla="*/ 207390 h 1974598"/>
              <a:gd name="csX2" fmla="*/ 1343923 w 2338865"/>
              <a:gd name="csY2" fmla="*/ 288115 h 1974598"/>
              <a:gd name="csX3" fmla="*/ 1317860 w 2338865"/>
              <a:gd name="csY3" fmla="*/ 326773 h 1974598"/>
              <a:gd name="csX4" fmla="*/ 1976744 w 2338865"/>
              <a:gd name="csY4" fmla="*/ 326773 h 1974598"/>
              <a:gd name="csX5" fmla="*/ 1976744 w 2338865"/>
              <a:gd name="csY5" fmla="*/ 1017610 h 1974598"/>
              <a:gd name="csX6" fmla="*/ 1984829 w 2338865"/>
              <a:gd name="csY6" fmla="*/ 1005619 h 1974598"/>
              <a:gd name="csX7" fmla="*/ 2131475 w 2338865"/>
              <a:gd name="csY7" fmla="*/ 944876 h 1974598"/>
              <a:gd name="csX8" fmla="*/ 2338865 w 2338865"/>
              <a:gd name="csY8" fmla="*/ 1152266 h 1974598"/>
              <a:gd name="csX9" fmla="*/ 2131475 w 2338865"/>
              <a:gd name="csY9" fmla="*/ 1359656 h 1974598"/>
              <a:gd name="csX10" fmla="*/ 1984829 w 2338865"/>
              <a:gd name="csY10" fmla="*/ 1298913 h 1974598"/>
              <a:gd name="csX11" fmla="*/ 1976744 w 2338865"/>
              <a:gd name="csY11" fmla="*/ 1286922 h 1974598"/>
              <a:gd name="csX12" fmla="*/ 1976744 w 2338865"/>
              <a:gd name="csY12" fmla="*/ 1974598 h 1974598"/>
              <a:gd name="csX13" fmla="*/ 1288791 w 2338865"/>
              <a:gd name="csY13" fmla="*/ 1974598 h 1974598"/>
              <a:gd name="csX14" fmla="*/ 1306142 w 2338865"/>
              <a:gd name="csY14" fmla="*/ 1962900 h 1974598"/>
              <a:gd name="csX15" fmla="*/ 1366885 w 2338865"/>
              <a:gd name="csY15" fmla="*/ 1816253 h 1974598"/>
              <a:gd name="csX16" fmla="*/ 1159495 w 2338865"/>
              <a:gd name="csY16" fmla="*/ 1608863 h 1974598"/>
              <a:gd name="csX17" fmla="*/ 952105 w 2338865"/>
              <a:gd name="csY17" fmla="*/ 1816253 h 1974598"/>
              <a:gd name="csX18" fmla="*/ 1012848 w 2338865"/>
              <a:gd name="csY18" fmla="*/ 1962900 h 1974598"/>
              <a:gd name="csX19" fmla="*/ 1030199 w 2338865"/>
              <a:gd name="csY19" fmla="*/ 1974598 h 1974598"/>
              <a:gd name="csX20" fmla="*/ 328919 w 2338865"/>
              <a:gd name="csY20" fmla="*/ 1974598 h 1974598"/>
              <a:gd name="csX21" fmla="*/ 328919 w 2338865"/>
              <a:gd name="csY21" fmla="*/ 1315848 h 1974598"/>
              <a:gd name="csX22" fmla="*/ 288116 w 2338865"/>
              <a:gd name="csY22" fmla="*/ 1343358 h 1974598"/>
              <a:gd name="csX23" fmla="*/ 207390 w 2338865"/>
              <a:gd name="csY23" fmla="*/ 1359656 h 1974598"/>
              <a:gd name="csX24" fmla="*/ 0 w 2338865"/>
              <a:gd name="csY24" fmla="*/ 1152266 h 1974598"/>
              <a:gd name="csX25" fmla="*/ 207390 w 2338865"/>
              <a:gd name="csY25" fmla="*/ 944876 h 1974598"/>
              <a:gd name="csX26" fmla="*/ 288116 w 2338865"/>
              <a:gd name="csY26" fmla="*/ 961174 h 1974598"/>
              <a:gd name="csX27" fmla="*/ 328919 w 2338865"/>
              <a:gd name="csY27" fmla="*/ 988685 h 1974598"/>
              <a:gd name="csX28" fmla="*/ 328919 w 2338865"/>
              <a:gd name="csY28" fmla="*/ 326773 h 1974598"/>
              <a:gd name="csX29" fmla="*/ 987803 w 2338865"/>
              <a:gd name="csY29" fmla="*/ 326773 h 1974598"/>
              <a:gd name="csX30" fmla="*/ 961739 w 2338865"/>
              <a:gd name="csY30" fmla="*/ 288115 h 1974598"/>
              <a:gd name="csX31" fmla="*/ 945441 w 2338865"/>
              <a:gd name="csY31" fmla="*/ 207390 h 1974598"/>
              <a:gd name="csX32" fmla="*/ 1152831 w 2338865"/>
              <a:gd name="csY32" fmla="*/ 0 h 1974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2338865" h="1974598">
                <a:moveTo>
                  <a:pt x="1152831" y="0"/>
                </a:moveTo>
                <a:cubicBezTo>
                  <a:pt x="1267369" y="0"/>
                  <a:pt x="1360221" y="92852"/>
                  <a:pt x="1360221" y="207390"/>
                </a:cubicBezTo>
                <a:cubicBezTo>
                  <a:pt x="1360221" y="236024"/>
                  <a:pt x="1354418" y="263304"/>
                  <a:pt x="1343923" y="288115"/>
                </a:cubicBezTo>
                <a:lnTo>
                  <a:pt x="1317860" y="326773"/>
                </a:lnTo>
                <a:lnTo>
                  <a:pt x="1976744" y="326773"/>
                </a:lnTo>
                <a:lnTo>
                  <a:pt x="1976744" y="1017610"/>
                </a:lnTo>
                <a:lnTo>
                  <a:pt x="1984829" y="1005619"/>
                </a:lnTo>
                <a:cubicBezTo>
                  <a:pt x="2022359" y="968089"/>
                  <a:pt x="2074206" y="944876"/>
                  <a:pt x="2131475" y="944876"/>
                </a:cubicBezTo>
                <a:cubicBezTo>
                  <a:pt x="2246013" y="944876"/>
                  <a:pt x="2338865" y="1037728"/>
                  <a:pt x="2338865" y="1152266"/>
                </a:cubicBezTo>
                <a:cubicBezTo>
                  <a:pt x="2338865" y="1266804"/>
                  <a:pt x="2246013" y="1359656"/>
                  <a:pt x="2131475" y="1359656"/>
                </a:cubicBezTo>
                <a:cubicBezTo>
                  <a:pt x="2074206" y="1359656"/>
                  <a:pt x="2022359" y="1336443"/>
                  <a:pt x="1984829" y="1298913"/>
                </a:cubicBezTo>
                <a:lnTo>
                  <a:pt x="1976744" y="1286922"/>
                </a:lnTo>
                <a:lnTo>
                  <a:pt x="1976744" y="1974598"/>
                </a:lnTo>
                <a:lnTo>
                  <a:pt x="1288791" y="1974598"/>
                </a:lnTo>
                <a:lnTo>
                  <a:pt x="1306142" y="1962900"/>
                </a:lnTo>
                <a:cubicBezTo>
                  <a:pt x="1343672" y="1925370"/>
                  <a:pt x="1366885" y="1873522"/>
                  <a:pt x="1366885" y="1816253"/>
                </a:cubicBezTo>
                <a:cubicBezTo>
                  <a:pt x="1366885" y="1701715"/>
                  <a:pt x="1274033" y="1608863"/>
                  <a:pt x="1159495" y="1608863"/>
                </a:cubicBezTo>
                <a:cubicBezTo>
                  <a:pt x="1044957" y="1608863"/>
                  <a:pt x="952105" y="1701715"/>
                  <a:pt x="952105" y="1816253"/>
                </a:cubicBezTo>
                <a:cubicBezTo>
                  <a:pt x="952105" y="1873522"/>
                  <a:pt x="975318" y="1925370"/>
                  <a:pt x="1012848" y="1962900"/>
                </a:cubicBezTo>
                <a:lnTo>
                  <a:pt x="1030199" y="1974598"/>
                </a:lnTo>
                <a:lnTo>
                  <a:pt x="328919" y="1974598"/>
                </a:lnTo>
                <a:lnTo>
                  <a:pt x="328919" y="1315848"/>
                </a:lnTo>
                <a:lnTo>
                  <a:pt x="288116" y="1343358"/>
                </a:lnTo>
                <a:cubicBezTo>
                  <a:pt x="263304" y="1353853"/>
                  <a:pt x="236025" y="1359656"/>
                  <a:pt x="207390" y="1359656"/>
                </a:cubicBezTo>
                <a:cubicBezTo>
                  <a:pt x="92852" y="1359656"/>
                  <a:pt x="0" y="1266804"/>
                  <a:pt x="0" y="1152266"/>
                </a:cubicBezTo>
                <a:cubicBezTo>
                  <a:pt x="0" y="1037728"/>
                  <a:pt x="92852" y="944876"/>
                  <a:pt x="207390" y="944876"/>
                </a:cubicBezTo>
                <a:cubicBezTo>
                  <a:pt x="236025" y="944876"/>
                  <a:pt x="263304" y="950679"/>
                  <a:pt x="288116" y="961174"/>
                </a:cubicBezTo>
                <a:lnTo>
                  <a:pt x="328919" y="988685"/>
                </a:lnTo>
                <a:lnTo>
                  <a:pt x="328919" y="326773"/>
                </a:lnTo>
                <a:lnTo>
                  <a:pt x="987803" y="326773"/>
                </a:lnTo>
                <a:lnTo>
                  <a:pt x="961739" y="288115"/>
                </a:lnTo>
                <a:cubicBezTo>
                  <a:pt x="951244" y="263304"/>
                  <a:pt x="945441" y="236024"/>
                  <a:pt x="945441" y="207390"/>
                </a:cubicBezTo>
                <a:cubicBezTo>
                  <a:pt x="945441" y="92852"/>
                  <a:pt x="1038293" y="0"/>
                  <a:pt x="1152831" y="0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K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701EDA-61DB-4A98-715B-4DF752CA8936}"/>
              </a:ext>
            </a:extLst>
          </p:cNvPr>
          <p:cNvSpPr txBox="1"/>
          <p:nvPr/>
        </p:nvSpPr>
        <p:spPr>
          <a:xfrm>
            <a:off x="594181" y="4912926"/>
            <a:ext cx="360739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Why did the model classify </a:t>
            </a:r>
            <a:b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</a:b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this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DB05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specific 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data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as this category?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E4129-95CA-4DB4-DC97-40F65D4C7FFD}"/>
              </a:ext>
            </a:extLst>
          </p:cNvPr>
          <p:cNvSpPr txBox="1"/>
          <p:nvPr/>
        </p:nvSpPr>
        <p:spPr>
          <a:xfrm>
            <a:off x="385330" y="1780716"/>
            <a:ext cx="402509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LIME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12DF45-305C-E3F4-D609-0EC04792ADB2}"/>
                  </a:ext>
                </a:extLst>
              </p:cNvPr>
              <p:cNvSpPr txBox="1"/>
              <p:nvPr/>
            </p:nvSpPr>
            <p:spPr>
              <a:xfrm>
                <a:off x="4236259" y="2824979"/>
                <a:ext cx="6102626" cy="702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KR" sz="2800" i="1" smtClean="0">
                          <a:latin typeface="Cambria Math" panose="02040503050406030204" pitchFamily="18" charset="0"/>
                        </a:rPr>
                        <m:t>𝜉</m:t>
                      </m:r>
                      <m:d>
                        <m:d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K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KR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KR" sz="2800" i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KR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KR" sz="2800" i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KR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  <m:r>
                        <a:rPr lang="en-KR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KR" sz="2800" i="0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KR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KR" sz="28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7A12DF45-305C-E3F4-D609-0EC04792A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6259" y="2824979"/>
                <a:ext cx="6102626" cy="702372"/>
              </a:xfrm>
              <a:prstGeom prst="rect">
                <a:avLst/>
              </a:prstGeom>
              <a:blipFill>
                <a:blip r:embed="rId2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en-K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0C4D95B-80DF-D79B-2002-A79FFF504C21}"/>
              </a:ext>
            </a:extLst>
          </p:cNvPr>
          <p:cNvCxnSpPr>
            <a:cxnSpLocks/>
          </p:cNvCxnSpPr>
          <p:nvPr/>
        </p:nvCxnSpPr>
        <p:spPr>
          <a:xfrm>
            <a:off x="6726099" y="2328645"/>
            <a:ext cx="803212" cy="58683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CAC19129-FA8A-CFFD-0EFD-A90F2B9FC339}"/>
              </a:ext>
            </a:extLst>
          </p:cNvPr>
          <p:cNvSpPr txBox="1"/>
          <p:nvPr/>
        </p:nvSpPr>
        <p:spPr>
          <a:xfrm>
            <a:off x="5076512" y="2101462"/>
            <a:ext cx="20126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Original Model</a:t>
            </a:r>
            <a:endParaRPr lang="en-KR" dirty="0"/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E2B04D-7E26-BC71-F9E6-27B58D000907}"/>
              </a:ext>
            </a:extLst>
          </p:cNvPr>
          <p:cNvCxnSpPr>
            <a:cxnSpLocks/>
          </p:cNvCxnSpPr>
          <p:nvPr/>
        </p:nvCxnSpPr>
        <p:spPr>
          <a:xfrm>
            <a:off x="7906734" y="2101462"/>
            <a:ext cx="0" cy="8759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1D6FB02-B225-928D-6573-B6E0E65A2FDC}"/>
              </a:ext>
            </a:extLst>
          </p:cNvPr>
          <p:cNvCxnSpPr>
            <a:cxnSpLocks/>
          </p:cNvCxnSpPr>
          <p:nvPr/>
        </p:nvCxnSpPr>
        <p:spPr>
          <a:xfrm flipV="1">
            <a:off x="8284158" y="2539420"/>
            <a:ext cx="569456" cy="43795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7197119-04F1-A0DF-D28A-76AD26FF0A30}"/>
              </a:ext>
            </a:extLst>
          </p:cNvPr>
          <p:cNvSpPr txBox="1"/>
          <p:nvPr/>
        </p:nvSpPr>
        <p:spPr>
          <a:xfrm>
            <a:off x="6817083" y="1673754"/>
            <a:ext cx="22257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Interpretable Model</a:t>
            </a:r>
            <a:endParaRPr lang="en-KR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9839E83-A67E-4CD7-3A11-3726A0AD4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0169" y="4261051"/>
            <a:ext cx="5814806" cy="101759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B816DC9-AFB7-862A-2536-25F6E26314FE}"/>
              </a:ext>
            </a:extLst>
          </p:cNvPr>
          <p:cNvSpPr txBox="1"/>
          <p:nvPr/>
        </p:nvSpPr>
        <p:spPr>
          <a:xfrm>
            <a:off x="8787628" y="2266341"/>
            <a:ext cx="24121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Locality-aware weight</a:t>
            </a:r>
            <a:endParaRPr lang="en-KR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868A686-EF12-E874-1AA5-AD7755CF6F18}"/>
              </a:ext>
            </a:extLst>
          </p:cNvPr>
          <p:cNvCxnSpPr>
            <a:cxnSpLocks/>
          </p:cNvCxnSpPr>
          <p:nvPr/>
        </p:nvCxnSpPr>
        <p:spPr>
          <a:xfrm>
            <a:off x="7089135" y="3331564"/>
            <a:ext cx="1626185" cy="0"/>
          </a:xfrm>
          <a:prstGeom prst="line">
            <a:avLst/>
          </a:prstGeom>
          <a:ln w="19050">
            <a:solidFill>
              <a:srgbClr val="275D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3349B63-1EBF-131C-001D-67701729A1EA}"/>
              </a:ext>
            </a:extLst>
          </p:cNvPr>
          <p:cNvCxnSpPr>
            <a:cxnSpLocks/>
          </p:cNvCxnSpPr>
          <p:nvPr/>
        </p:nvCxnSpPr>
        <p:spPr>
          <a:xfrm>
            <a:off x="9230642" y="4769846"/>
            <a:ext cx="417056" cy="6178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2741BD6-EBFF-8B21-677B-711A25BCC170}"/>
              </a:ext>
            </a:extLst>
          </p:cNvPr>
          <p:cNvCxnSpPr>
            <a:cxnSpLocks/>
          </p:cNvCxnSpPr>
          <p:nvPr/>
        </p:nvCxnSpPr>
        <p:spPr>
          <a:xfrm flipH="1">
            <a:off x="8105720" y="4782415"/>
            <a:ext cx="192544" cy="6053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0C83B77-D865-E7D1-9E2F-FB8321D9EECE}"/>
              </a:ext>
            </a:extLst>
          </p:cNvPr>
          <p:cNvSpPr txBox="1"/>
          <p:nvPr/>
        </p:nvSpPr>
        <p:spPr>
          <a:xfrm>
            <a:off x="7297764" y="5342319"/>
            <a:ext cx="1615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Original Input</a:t>
            </a:r>
            <a:endParaRPr lang="en-KR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DADA5A7-514D-BC61-B92C-635DD0BEEF9B}"/>
              </a:ext>
            </a:extLst>
          </p:cNvPr>
          <p:cNvSpPr txBox="1"/>
          <p:nvPr/>
        </p:nvSpPr>
        <p:spPr>
          <a:xfrm>
            <a:off x="9484566" y="5342319"/>
            <a:ext cx="1615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Sample Input</a:t>
            </a:r>
            <a:endParaRPr lang="en-KR" dirty="0"/>
          </a:p>
        </p:txBody>
      </p:sp>
      <p:sp>
        <p:nvSpPr>
          <p:cNvPr id="49" name="Down Arrow 48">
            <a:extLst>
              <a:ext uri="{FF2B5EF4-FFF2-40B4-BE49-F238E27FC236}">
                <a16:creationId xmlns:a16="http://schemas.microsoft.com/office/drawing/2014/main" id="{2A92A422-E536-C51A-445A-451A0BC84D2B}"/>
              </a:ext>
            </a:extLst>
          </p:cNvPr>
          <p:cNvSpPr/>
          <p:nvPr/>
        </p:nvSpPr>
        <p:spPr>
          <a:xfrm>
            <a:off x="7563602" y="3486964"/>
            <a:ext cx="677249" cy="702371"/>
          </a:xfrm>
          <a:prstGeom prst="downArrow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51" name="Down Arrow 50">
            <a:extLst>
              <a:ext uri="{FF2B5EF4-FFF2-40B4-BE49-F238E27FC236}">
                <a16:creationId xmlns:a16="http://schemas.microsoft.com/office/drawing/2014/main" id="{59FC63F3-FB54-FC7A-5EEB-A34011722300}"/>
              </a:ext>
            </a:extLst>
          </p:cNvPr>
          <p:cNvSpPr/>
          <p:nvPr/>
        </p:nvSpPr>
        <p:spPr>
          <a:xfrm>
            <a:off x="7716002" y="3639364"/>
            <a:ext cx="677249" cy="702371"/>
          </a:xfrm>
          <a:prstGeom prst="downArrow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86876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latin typeface="Freesentation 9 Black" pitchFamily="2" charset="-127"/>
                <a:ea typeface="Freesentation 9 Black" pitchFamily="2" charset="-127"/>
              </a:rPr>
              <a:t>LIME(Local Interpretable Model-agnostic Explanations)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FAAC81-FEA3-F2FB-565D-CA9426CEA361}"/>
              </a:ext>
            </a:extLst>
          </p:cNvPr>
          <p:cNvSpPr txBox="1"/>
          <p:nvPr/>
        </p:nvSpPr>
        <p:spPr>
          <a:xfrm>
            <a:off x="2094056" y="992009"/>
            <a:ext cx="80038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Example. Dog Classifier Model</a:t>
            </a:r>
            <a:endParaRPr lang="en-KR" sz="32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2232356-B224-5814-2E80-736383E8EDE8}"/>
              </a:ext>
            </a:extLst>
          </p:cNvPr>
          <p:cNvGrpSpPr/>
          <p:nvPr/>
        </p:nvGrpSpPr>
        <p:grpSpPr>
          <a:xfrm>
            <a:off x="1186318" y="2698140"/>
            <a:ext cx="2012623" cy="2414003"/>
            <a:chOff x="1186318" y="2698140"/>
            <a:chExt cx="2012623" cy="2414003"/>
          </a:xfrm>
        </p:grpSpPr>
        <p:pic>
          <p:nvPicPr>
            <p:cNvPr id="4" name="Picture 6" descr="A Dog Face in Front of the Camera Faceing Used for Print Media Stock Image  - Image of lens, media: 372062409">
              <a:extLst>
                <a:ext uri="{FF2B5EF4-FFF2-40B4-BE49-F238E27FC236}">
                  <a16:creationId xmlns:a16="http://schemas.microsoft.com/office/drawing/2014/main" id="{AFE2AC24-95D2-46FE-B728-ED0FA96D66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22812" y="2698140"/>
              <a:ext cx="1939636" cy="193963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BE466A0-72D3-0E81-2BDE-B8913F7811D1}"/>
                </a:ext>
              </a:extLst>
            </p:cNvPr>
            <p:cNvSpPr txBox="1"/>
            <p:nvPr/>
          </p:nvSpPr>
          <p:spPr>
            <a:xfrm>
              <a:off x="1186318" y="4742811"/>
              <a:ext cx="20126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Original Input</a:t>
              </a:r>
              <a:endParaRPr lang="en-KR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04F4961E-B508-56FA-EF06-AAC591CC9553}"/>
              </a:ext>
            </a:extLst>
          </p:cNvPr>
          <p:cNvGrpSpPr/>
          <p:nvPr/>
        </p:nvGrpSpPr>
        <p:grpSpPr>
          <a:xfrm>
            <a:off x="4284126" y="1938802"/>
            <a:ext cx="3468302" cy="4500874"/>
            <a:chOff x="4284126" y="1938802"/>
            <a:chExt cx="3468302" cy="4500874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CF03C86-F677-EF56-5732-8346C0A49A8F}"/>
                </a:ext>
              </a:extLst>
            </p:cNvPr>
            <p:cNvGrpSpPr/>
            <p:nvPr/>
          </p:nvGrpSpPr>
          <p:grpSpPr>
            <a:xfrm>
              <a:off x="4787571" y="1938802"/>
              <a:ext cx="1139284" cy="1139284"/>
              <a:chOff x="4156364" y="1798125"/>
              <a:chExt cx="1939636" cy="1939636"/>
            </a:xfrm>
          </p:grpSpPr>
          <p:pic>
            <p:nvPicPr>
              <p:cNvPr id="27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BEE3F482-BAD8-4F8E-B419-A91834AE952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5A464A0-736B-7C44-F103-84B114DB2AB4}"/>
                  </a:ext>
                </a:extLst>
              </p:cNvPr>
              <p:cNvSpPr/>
              <p:nvPr/>
            </p:nvSpPr>
            <p:spPr>
              <a:xfrm>
                <a:off x="4901828" y="1798125"/>
                <a:ext cx="505628" cy="68285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9F8C270-797B-72EC-5D6F-897131610D03}"/>
                </a:ext>
              </a:extLst>
            </p:cNvPr>
            <p:cNvGrpSpPr/>
            <p:nvPr/>
          </p:nvGrpSpPr>
          <p:grpSpPr>
            <a:xfrm>
              <a:off x="6098432" y="1938802"/>
              <a:ext cx="1139284" cy="1139284"/>
              <a:chOff x="4156364" y="1798125"/>
              <a:chExt cx="1939636" cy="1939636"/>
            </a:xfrm>
          </p:grpSpPr>
          <p:pic>
            <p:nvPicPr>
              <p:cNvPr id="24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C9AF5645-4DC4-89EA-76B0-195F6DF0DE3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996841A4-83F9-4897-4002-0E066C177F19}"/>
                  </a:ext>
                </a:extLst>
              </p:cNvPr>
              <p:cNvSpPr/>
              <p:nvPr/>
            </p:nvSpPr>
            <p:spPr>
              <a:xfrm>
                <a:off x="4156364" y="1925904"/>
                <a:ext cx="464188" cy="1254266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dirty="0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9671112D-685F-676A-F974-2B1CC410E95F}"/>
                  </a:ext>
                </a:extLst>
              </p:cNvPr>
              <p:cNvSpPr/>
              <p:nvPr/>
            </p:nvSpPr>
            <p:spPr>
              <a:xfrm>
                <a:off x="5612046" y="1905688"/>
                <a:ext cx="464188" cy="1254266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C190B08C-CA38-02A9-0F62-E8609BFD26FB}"/>
                </a:ext>
              </a:extLst>
            </p:cNvPr>
            <p:cNvGrpSpPr/>
            <p:nvPr/>
          </p:nvGrpSpPr>
          <p:grpSpPr>
            <a:xfrm>
              <a:off x="4787571" y="3153140"/>
              <a:ext cx="1139284" cy="1139284"/>
              <a:chOff x="4156364" y="1798125"/>
              <a:chExt cx="1939636" cy="1939636"/>
            </a:xfrm>
          </p:grpSpPr>
          <p:pic>
            <p:nvPicPr>
              <p:cNvPr id="22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389AF525-0A35-0621-AF94-C953AC01EDD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1CB3013-5147-7EA9-8F56-2FB40CAB06E7}"/>
                  </a:ext>
                </a:extLst>
              </p:cNvPr>
              <p:cNvSpPr/>
              <p:nvPr/>
            </p:nvSpPr>
            <p:spPr>
              <a:xfrm>
                <a:off x="4156364" y="3414236"/>
                <a:ext cx="1939636" cy="270022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D7C0101-25AF-1484-B1BB-B924537F6A46}"/>
                </a:ext>
              </a:extLst>
            </p:cNvPr>
            <p:cNvGrpSpPr/>
            <p:nvPr/>
          </p:nvGrpSpPr>
          <p:grpSpPr>
            <a:xfrm>
              <a:off x="6098481" y="3153140"/>
              <a:ext cx="1139284" cy="1139284"/>
              <a:chOff x="4156364" y="1798125"/>
              <a:chExt cx="1939636" cy="1939636"/>
            </a:xfrm>
          </p:grpSpPr>
          <p:pic>
            <p:nvPicPr>
              <p:cNvPr id="20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FC7793AA-9A7C-03B7-0FCB-F0715EEB51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736C486-A26E-D604-1FAA-A523D4C3803F}"/>
                  </a:ext>
                </a:extLst>
              </p:cNvPr>
              <p:cNvSpPr/>
              <p:nvPr/>
            </p:nvSpPr>
            <p:spPr>
              <a:xfrm>
                <a:off x="4261606" y="2776438"/>
                <a:ext cx="533853" cy="840237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C70F7B81-A33D-3F01-05AF-33150F39E91A}"/>
                </a:ext>
              </a:extLst>
            </p:cNvPr>
            <p:cNvGrpSpPr/>
            <p:nvPr/>
          </p:nvGrpSpPr>
          <p:grpSpPr>
            <a:xfrm>
              <a:off x="6098481" y="4388174"/>
              <a:ext cx="1139284" cy="1139284"/>
              <a:chOff x="4156364" y="1798125"/>
              <a:chExt cx="1939636" cy="1939636"/>
            </a:xfrm>
          </p:grpSpPr>
          <p:pic>
            <p:nvPicPr>
              <p:cNvPr id="18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09045F9E-B5C4-22D3-4792-B5C60B2F532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FB3062F3-C281-AC0D-F73B-F29345055A3F}"/>
                  </a:ext>
                </a:extLst>
              </p:cNvPr>
              <p:cNvSpPr/>
              <p:nvPr/>
            </p:nvSpPr>
            <p:spPr>
              <a:xfrm>
                <a:off x="4557084" y="2132534"/>
                <a:ext cx="1208827" cy="480889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14CFA7D9-626F-2891-8931-62DE8244003A}"/>
                </a:ext>
              </a:extLst>
            </p:cNvPr>
            <p:cNvGrpSpPr/>
            <p:nvPr/>
          </p:nvGrpSpPr>
          <p:grpSpPr>
            <a:xfrm>
              <a:off x="4787571" y="4388174"/>
              <a:ext cx="1139284" cy="1139284"/>
              <a:chOff x="4156364" y="1798125"/>
              <a:chExt cx="1939636" cy="1939636"/>
            </a:xfrm>
          </p:grpSpPr>
          <p:pic>
            <p:nvPicPr>
              <p:cNvPr id="16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9976258F-A690-61AF-5D1E-3DADBA0E8C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56364" y="1798125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DAE9E16C-BE63-6A48-5835-8C3321EF8962}"/>
                  </a:ext>
                </a:extLst>
              </p:cNvPr>
              <p:cNvSpPr/>
              <p:nvPr/>
            </p:nvSpPr>
            <p:spPr>
              <a:xfrm>
                <a:off x="4661992" y="2678795"/>
                <a:ext cx="889397" cy="864648"/>
              </a:xfrm>
              <a:prstGeom prst="rect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KR" dirty="0"/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484A99-1DC1-6372-670B-AAD9D9BE3E3D}"/>
                </a:ext>
              </a:extLst>
            </p:cNvPr>
            <p:cNvSpPr txBox="1"/>
            <p:nvPr/>
          </p:nvSpPr>
          <p:spPr>
            <a:xfrm>
              <a:off x="4284126" y="5793345"/>
              <a:ext cx="346830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Sampling for Local Exploration</a:t>
              </a:r>
              <a:br>
                <a:rPr lang="en-US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</a:br>
              <a:r>
                <a:rPr lang="en-US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(Super-pixels)</a:t>
              </a:r>
              <a:endParaRPr lang="en-KR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A617B65-00C6-A783-C9CA-90B179C900DA}"/>
              </a:ext>
            </a:extLst>
          </p:cNvPr>
          <p:cNvGrpSpPr/>
          <p:nvPr/>
        </p:nvGrpSpPr>
        <p:grpSpPr>
          <a:xfrm>
            <a:off x="8325062" y="1938802"/>
            <a:ext cx="2418087" cy="4500873"/>
            <a:chOff x="8325062" y="1938802"/>
            <a:chExt cx="2418087" cy="450087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5469D02-0E36-0278-DCF1-17E97A7E44EA}"/>
                </a:ext>
              </a:extLst>
            </p:cNvPr>
            <p:cNvSpPr/>
            <p:nvPr/>
          </p:nvSpPr>
          <p:spPr>
            <a:xfrm>
              <a:off x="8970269" y="4388174"/>
              <a:ext cx="1127674" cy="113928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17804FE-258A-3D8F-0CE6-AF12F138D99D}"/>
                </a:ext>
              </a:extLst>
            </p:cNvPr>
            <p:cNvSpPr/>
            <p:nvPr/>
          </p:nvSpPr>
          <p:spPr>
            <a:xfrm>
              <a:off x="8970269" y="3150679"/>
              <a:ext cx="1127674" cy="113928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E06B9C6-BFC6-5748-EFDA-73B233AACD78}"/>
                </a:ext>
              </a:extLst>
            </p:cNvPr>
            <p:cNvSpPr/>
            <p:nvPr/>
          </p:nvSpPr>
          <p:spPr>
            <a:xfrm>
              <a:off x="8970269" y="1938802"/>
              <a:ext cx="1127674" cy="113928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dirty="0"/>
            </a:p>
          </p:txBody>
        </p:sp>
        <p:pic>
          <p:nvPicPr>
            <p:cNvPr id="33" name="Picture 6" descr="A Dog Face in Front of the Camera Faceing Used for Print Media Stock Image  - Image of lens, media: 372062409">
              <a:extLst>
                <a:ext uri="{FF2B5EF4-FFF2-40B4-BE49-F238E27FC236}">
                  <a16:creationId xmlns:a16="http://schemas.microsoft.com/office/drawing/2014/main" id="{F616B6D0-EC0A-55A2-AC3F-1256C896B9A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34" t="17241" r="16087" b="57966"/>
            <a:stretch>
              <a:fillRect/>
            </a:stretch>
          </p:blipFill>
          <p:spPr bwMode="auto">
            <a:xfrm>
              <a:off x="9187123" y="4584596"/>
              <a:ext cx="739140" cy="28246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A Dog Face in Front of the Camera Faceing Used for Print Media Stock Image  - Image of lens, media: 372062409">
              <a:extLst>
                <a:ext uri="{FF2B5EF4-FFF2-40B4-BE49-F238E27FC236}">
                  <a16:creationId xmlns:a16="http://schemas.microsoft.com/office/drawing/2014/main" id="{22E5ECC0-6CC3-6120-28A1-1330E79E20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838" t="44135" r="24619" b="16464"/>
            <a:stretch>
              <a:fillRect/>
            </a:stretch>
          </p:blipFill>
          <p:spPr bwMode="auto">
            <a:xfrm>
              <a:off x="9241846" y="3653497"/>
              <a:ext cx="587218" cy="4488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6" descr="A Dog Face in Front of the Camera Faceing Used for Print Media Stock Image  - Image of lens, media: 372062409">
              <a:extLst>
                <a:ext uri="{FF2B5EF4-FFF2-40B4-BE49-F238E27FC236}">
                  <a16:creationId xmlns:a16="http://schemas.microsoft.com/office/drawing/2014/main" id="{AE31D94F-6826-6A31-B874-9BD5BB7B99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6" r="76163" b="33841"/>
            <a:stretch>
              <a:fillRect/>
            </a:stretch>
          </p:blipFill>
          <p:spPr bwMode="auto">
            <a:xfrm>
              <a:off x="8977889" y="2013856"/>
              <a:ext cx="271577" cy="6842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Picture 6" descr="A Dog Face in Front of the Camera Faceing Used for Print Media Stock Image  - Image of lens, media: 372062409">
              <a:extLst>
                <a:ext uri="{FF2B5EF4-FFF2-40B4-BE49-F238E27FC236}">
                  <a16:creationId xmlns:a16="http://schemas.microsoft.com/office/drawing/2014/main" id="{8E5B027C-8A61-D688-1E72-2CCE00B226E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400" t="6096" r="-237" b="33841"/>
            <a:stretch>
              <a:fillRect/>
            </a:stretch>
          </p:blipFill>
          <p:spPr bwMode="auto">
            <a:xfrm>
              <a:off x="9821444" y="2013856"/>
              <a:ext cx="271577" cy="6842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25A72A-1E44-8035-531B-8ADDBBA05169}"/>
                </a:ext>
              </a:extLst>
            </p:cNvPr>
            <p:cNvSpPr txBox="1"/>
            <p:nvPr/>
          </p:nvSpPr>
          <p:spPr>
            <a:xfrm>
              <a:off x="8325062" y="5793344"/>
              <a:ext cx="241808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800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Interpretable</a:t>
              </a:r>
              <a:r>
                <a:rPr lang="ko-KR" altLang="en-US" sz="1800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 </a:t>
              </a:r>
              <a:r>
                <a:rPr lang="en-US" altLang="ko-KR" sz="1800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 </a:t>
              </a:r>
              <a:br>
                <a:rPr lang="en-US" altLang="ko-KR" sz="1800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</a:br>
              <a:r>
                <a:rPr lang="en-US" altLang="ko-KR" sz="1800" b="1" dirty="0">
                  <a:latin typeface="Freesentation 8 ExtraBold" pitchFamily="2" charset="-127"/>
                  <a:ea typeface="Freesentation 8 ExtraBold" pitchFamily="2" charset="-127"/>
                  <a:cs typeface="Times New Roman" panose="02020603050405020304" pitchFamily="18" charset="0"/>
                </a:rPr>
                <a:t>Data Representations</a:t>
              </a:r>
              <a:endParaRPr lang="en-KR" dirty="0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5CDE6-D09E-E71A-24D7-D8C85226B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ESERT - 5 MINUTE SAND HOURGLASS">
            <a:extLst>
              <a:ext uri="{FF2B5EF4-FFF2-40B4-BE49-F238E27FC236}">
                <a16:creationId xmlns:a16="http://schemas.microsoft.com/office/drawing/2014/main" id="{965CF433-A0FE-37BA-4153-262081F8B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50" b="10382"/>
          <a:stretch>
            <a:fillRect/>
          </a:stretch>
        </p:blipFill>
        <p:spPr bwMode="auto">
          <a:xfrm>
            <a:off x="9284913" y="4062400"/>
            <a:ext cx="2519840" cy="2389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43F4A04-8DFD-AABE-00FA-7CED6B8E4E02}"/>
              </a:ext>
            </a:extLst>
          </p:cNvPr>
          <p:cNvSpPr txBox="1"/>
          <p:nvPr/>
        </p:nvSpPr>
        <p:spPr>
          <a:xfrm>
            <a:off x="866077" y="3593001"/>
            <a:ext cx="1045984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It is a time</a:t>
            </a:r>
            <a:r>
              <a:rPr lang="en-US" altLang="ko-KR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-</a:t>
            </a:r>
            <a: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consuming problem, </a:t>
            </a:r>
            <a:b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</a:br>
            <a: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and o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ur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 resources(time, money, </a:t>
            </a:r>
            <a: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etc.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) 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are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not 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infinit</a:t>
            </a:r>
            <a:r>
              <a:rPr lang="en-US" sz="3200" b="1" dirty="0">
                <a:solidFill>
                  <a:srgbClr val="C00000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e.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Freesentation 8 ExtraBold" pitchFamily="2" charset="-127"/>
              <a:ea typeface="Freesentation 8 ExtraBold" pitchFamily="2" charset="-127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7170FD-DBC5-B0AD-86DE-F9B71C3666D2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latin typeface="Freesentation 9 Black" pitchFamily="2" charset="-127"/>
                <a:ea typeface="Freesentation 9 Black" pitchFamily="2" charset="-127"/>
              </a:rPr>
              <a:t>Real-world Limitations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4F596D6-A8BC-FC6C-3695-1F6ACDFB276F}"/>
                  </a:ext>
                </a:extLst>
              </p:cNvPr>
              <p:cNvSpPr txBox="1"/>
              <p:nvPr/>
            </p:nvSpPr>
            <p:spPr>
              <a:xfrm>
                <a:off x="3044687" y="1693789"/>
                <a:ext cx="6102626" cy="7023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KR" sz="2800" i="1" smtClean="0">
                          <a:latin typeface="Cambria Math" panose="02040503050406030204" pitchFamily="18" charset="0"/>
                        </a:rPr>
                        <m:t>𝜉</m:t>
                      </m:r>
                      <m:d>
                        <m:d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K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KR" sz="28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KR" sz="2800" i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KR" sz="28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KR" sz="2800" i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KR" sz="28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d>
                                <m:dPr>
                                  <m:ctrlP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r>
                                    <a:rPr lang="en-KR" sz="28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KR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func>
                      <m:r>
                        <a:rPr lang="en-KR" sz="28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KR" sz="2800" i="0">
                          <a:latin typeface="Cambria Math" panose="02040503050406030204" pitchFamily="18" charset="0"/>
                        </a:rPr>
                        <m:t>Ω</m:t>
                      </m:r>
                      <m:d>
                        <m:dPr>
                          <m:ctrlPr>
                            <a:rPr lang="en-K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KR" sz="2800" i="1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</m:oMath>
                  </m:oMathPara>
                </a14:m>
                <a:endParaRPr lang="en-KR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4F596D6-A8BC-FC6C-3695-1F6ACDFB2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687" y="1693789"/>
                <a:ext cx="6102626" cy="702372"/>
              </a:xfrm>
              <a:prstGeom prst="rect">
                <a:avLst/>
              </a:prstGeom>
              <a:blipFill>
                <a:blip r:embed="rId3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en-K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Down Arrow 40">
            <a:extLst>
              <a:ext uri="{FF2B5EF4-FFF2-40B4-BE49-F238E27FC236}">
                <a16:creationId xmlns:a16="http://schemas.microsoft.com/office/drawing/2014/main" id="{7A0A6D52-E503-636E-F3FB-32DC87582447}"/>
              </a:ext>
            </a:extLst>
          </p:cNvPr>
          <p:cNvSpPr/>
          <p:nvPr/>
        </p:nvSpPr>
        <p:spPr>
          <a:xfrm>
            <a:off x="5757375" y="2726629"/>
            <a:ext cx="677249" cy="702371"/>
          </a:xfrm>
          <a:prstGeom prst="downArrow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28638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2B483-939C-62AD-BF68-61B05B9A6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124744-7B50-2D8A-3456-7BD0DCEA77A4}"/>
              </a:ext>
            </a:extLst>
          </p:cNvPr>
          <p:cNvSpPr/>
          <p:nvPr/>
        </p:nvSpPr>
        <p:spPr>
          <a:xfrm>
            <a:off x="1925782" y="3224318"/>
            <a:ext cx="8298873" cy="877163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5E5EA8-BE5C-8D5B-D517-B5821D69AE12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latin typeface="Freesentation 9 Black" pitchFamily="2" charset="-127"/>
                <a:ea typeface="Freesentation 9 Black" pitchFamily="2" charset="-127"/>
              </a:rPr>
              <a:t>Motivation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E58AE-3140-6270-30CE-2ECB0028C2C2}"/>
              </a:ext>
            </a:extLst>
          </p:cNvPr>
          <p:cNvSpPr txBox="1"/>
          <p:nvPr/>
        </p:nvSpPr>
        <p:spPr>
          <a:xfrm>
            <a:off x="722194" y="2713419"/>
            <a:ext cx="10747612" cy="143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How can we find a more efficient explanation model </a:t>
            </a:r>
            <a:br>
              <a:rPr lang="en-US" sz="32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</a:br>
            <a:r>
              <a:rPr lang="en-US" sz="59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within the same budget?</a:t>
            </a:r>
            <a:endParaRPr kumimoji="0" lang="en-US" sz="5900" b="1" i="0" u="none" strike="noStrike" kern="1200" cap="none" spc="0" normalizeH="0" baseline="0" noProof="0" dirty="0">
              <a:ln>
                <a:noFill/>
              </a:ln>
              <a:solidFill>
                <a:srgbClr val="FFDB05"/>
              </a:solidFill>
              <a:effectLst/>
              <a:uLnTx/>
              <a:uFillTx/>
              <a:latin typeface="Freesentation 8 ExtraBold" pitchFamily="2" charset="-127"/>
              <a:ea typeface="Freesentation 8 ExtraBold" pitchFamily="2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117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6D005-D049-B04A-1D1B-F5625AFB4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411BC4A-4F3F-BAEF-AE27-12B3C2E496C3}"/>
              </a:ext>
            </a:extLst>
          </p:cNvPr>
          <p:cNvSpPr/>
          <p:nvPr/>
        </p:nvSpPr>
        <p:spPr>
          <a:xfrm>
            <a:off x="199504" y="2331728"/>
            <a:ext cx="2964875" cy="3547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prstClr val="black"/>
                </a:solidFill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Dynamically choose the number of perturbation samples N for each instance, using more queries when the explanation is unstable and stopping early when it becomes stable.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2E3381-CDE2-AFCB-8A26-D6AEA8B20A9F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latin typeface="Freesentation 9 Black" pitchFamily="2" charset="-127"/>
                <a:ea typeface="Freesentation 9 Black" pitchFamily="2" charset="-127"/>
              </a:rPr>
              <a:t>Motivation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D72F0-0174-FC9D-1F25-E5D608ADAD4F}"/>
              </a:ext>
            </a:extLst>
          </p:cNvPr>
          <p:cNvSpPr txBox="1"/>
          <p:nvPr/>
        </p:nvSpPr>
        <p:spPr>
          <a:xfrm>
            <a:off x="3023063" y="2420520"/>
            <a:ext cx="28817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Coarse-to-Fine </a:t>
            </a:r>
            <a:br>
              <a:rPr lang="en-US" sz="18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</a:br>
            <a:r>
              <a:rPr lang="en-US" sz="18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Budget Allocation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137E53-B39F-7AEF-64F6-88855F3A372F}"/>
              </a:ext>
            </a:extLst>
          </p:cNvPr>
          <p:cNvSpPr txBox="1"/>
          <p:nvPr/>
        </p:nvSpPr>
        <p:spPr>
          <a:xfrm>
            <a:off x="5778039" y="2420520"/>
            <a:ext cx="296487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Repeated LIME with Split Budget and Aggregation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3A86D5-178B-1F12-EA6B-483C96E80AC1}"/>
              </a:ext>
            </a:extLst>
          </p:cNvPr>
          <p:cNvSpPr txBox="1"/>
          <p:nvPr/>
        </p:nvSpPr>
        <p:spPr>
          <a:xfrm>
            <a:off x="4655127" y="966237"/>
            <a:ext cx="288174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Possible Directions</a:t>
            </a:r>
            <a:endParaRPr lang="en-KR" sz="24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B01D22E-F65D-4331-88F3-16071BCF4526}"/>
              </a:ext>
            </a:extLst>
          </p:cNvPr>
          <p:cNvSpPr/>
          <p:nvPr/>
        </p:nvSpPr>
        <p:spPr>
          <a:xfrm>
            <a:off x="199504" y="1682405"/>
            <a:ext cx="2964875" cy="49666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Adaptive Budget</a:t>
            </a:r>
            <a:endParaRPr lang="en-KR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1E3021-2AD1-1845-78F9-76B0DB75F4D6}"/>
              </a:ext>
            </a:extLst>
          </p:cNvPr>
          <p:cNvSpPr/>
          <p:nvPr/>
        </p:nvSpPr>
        <p:spPr>
          <a:xfrm>
            <a:off x="3276600" y="1682405"/>
            <a:ext cx="5339543" cy="49666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Budget Allocation Optimization</a:t>
            </a:r>
            <a:endParaRPr lang="en-K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C21D99-FE64-5434-A08F-ACE3D4F94A50}"/>
              </a:ext>
            </a:extLst>
          </p:cNvPr>
          <p:cNvSpPr/>
          <p:nvPr/>
        </p:nvSpPr>
        <p:spPr>
          <a:xfrm>
            <a:off x="8733904" y="1682405"/>
            <a:ext cx="3269673" cy="49666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prstClr val="black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Balanced Mask Sampling</a:t>
            </a:r>
            <a:endParaRPr lang="en-KR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9CF05CC-19C5-6ED7-5AB1-7CDC4285EA50}"/>
              </a:ext>
            </a:extLst>
          </p:cNvPr>
          <p:cNvSpPr/>
          <p:nvPr/>
        </p:nvSpPr>
        <p:spPr>
          <a:xfrm>
            <a:off x="3276601" y="2331727"/>
            <a:ext cx="2453640" cy="3547299"/>
          </a:xfrm>
          <a:prstGeom prst="rect">
            <a:avLst/>
          </a:prstGeom>
          <a:noFill/>
          <a:ln w="38100">
            <a:solidFill>
              <a:srgbClr val="275D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black"/>
              </a:solidFill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prstClr val="black"/>
              </a:solidFill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prstClr val="black"/>
              </a:solidFill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solidFill>
                  <a:prstClr val="black"/>
                </a:solidFill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Spend a small budget to quickly find candidate important features first, then use the remaining budget to refine the explanation by focusing perturbations on those candidates.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C0B445-7F8E-AEDA-00E7-B076659A3175}"/>
              </a:ext>
            </a:extLst>
          </p:cNvPr>
          <p:cNvSpPr/>
          <p:nvPr/>
        </p:nvSpPr>
        <p:spPr>
          <a:xfrm>
            <a:off x="8733904" y="2331728"/>
            <a:ext cx="3258592" cy="3547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prstClr val="black"/>
                </a:solidFill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Design perturbation masks so each feature is turned on and off a similar number of times, reducing sampling variance and making LIME more stable under small 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5DF66B7-C115-C4D4-D92D-DFDD835B926B}"/>
              </a:ext>
            </a:extLst>
          </p:cNvPr>
          <p:cNvSpPr/>
          <p:nvPr/>
        </p:nvSpPr>
        <p:spPr>
          <a:xfrm>
            <a:off x="5836921" y="2331728"/>
            <a:ext cx="2779222" cy="354729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black"/>
              </a:solidFill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  <a:p>
            <a:pPr algn="ctr"/>
            <a:endParaRPr lang="en-US" dirty="0">
              <a:solidFill>
                <a:prstClr val="black"/>
              </a:solidFill>
              <a:latin typeface="Freesentation 4 Regular" pitchFamily="2" charset="-127"/>
              <a:ea typeface="Freesentation 4 Regular" pitchFamily="2" charset="-127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solidFill>
                  <a:prstClr val="black"/>
                </a:solidFill>
                <a:latin typeface="Freesentation 4 Regular" pitchFamily="2" charset="-127"/>
                <a:ea typeface="Freesentation 4 Regular" pitchFamily="2" charset="-127"/>
                <a:cs typeface="Times New Roman" panose="02020603050405020304" pitchFamily="18" charset="0"/>
              </a:rPr>
              <a:t>Split the budget N into R smaller runs, run LIME R times with different seeds, and then aggregate the feature weights (e.g., mean or median) to produce the final explanation.</a:t>
            </a:r>
          </a:p>
        </p:txBody>
      </p:sp>
      <p:sp>
        <p:nvSpPr>
          <p:cNvPr id="21" name="Down Arrow 20">
            <a:extLst>
              <a:ext uri="{FF2B5EF4-FFF2-40B4-BE49-F238E27FC236}">
                <a16:creationId xmlns:a16="http://schemas.microsoft.com/office/drawing/2014/main" id="{E362D3E7-039D-661F-7F70-2CA6ABFEB938}"/>
              </a:ext>
            </a:extLst>
          </p:cNvPr>
          <p:cNvSpPr/>
          <p:nvPr/>
        </p:nvSpPr>
        <p:spPr>
          <a:xfrm rot="10800000">
            <a:off x="4164795" y="6133529"/>
            <a:ext cx="490331" cy="508519"/>
          </a:xfrm>
          <a:prstGeom prst="downArrow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90A7F9-83D6-C46B-A71B-D3C621FF20E1}"/>
              </a:ext>
            </a:extLst>
          </p:cNvPr>
          <p:cNvCxnSpPr>
            <a:cxnSpLocks/>
          </p:cNvCxnSpPr>
          <p:nvPr/>
        </p:nvCxnSpPr>
        <p:spPr>
          <a:xfrm>
            <a:off x="3474003" y="3174498"/>
            <a:ext cx="207335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CB24616-A937-B8D9-DD1E-2C2236E8C1DD}"/>
              </a:ext>
            </a:extLst>
          </p:cNvPr>
          <p:cNvCxnSpPr>
            <a:cxnSpLocks/>
          </p:cNvCxnSpPr>
          <p:nvPr/>
        </p:nvCxnSpPr>
        <p:spPr>
          <a:xfrm>
            <a:off x="5913600" y="3174498"/>
            <a:ext cx="258387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2124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2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08514" y="2998113"/>
            <a:ext cx="9067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Methodology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Numerical Metrics</a:t>
            </a:r>
            <a:endParaRPr lang="en-US" sz="2400" dirty="0"/>
          </a:p>
        </p:txBody>
      </p:sp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9B74FB28-4958-F664-3898-67B0C3F231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0149" y="1370542"/>
            <a:ext cx="7471701" cy="4116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zh-CN" b="1" dirty="0"/>
              <a:t>We defined numerical metrics to evaluate explanations from four perspectives: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等线" panose="02010600030101010101" pitchFamily="2" charset="-122"/>
                <a:cs typeface="+mn-cs"/>
              </a:rPr>
              <a:t> Fidelity</a:t>
            </a:r>
            <a:endParaRPr lang="en-US" altLang="zh-CN" b="1" dirty="0"/>
          </a:p>
          <a:p>
            <a:r>
              <a:rPr lang="en-US" altLang="zh-CN" b="1" dirty="0"/>
              <a:t> Stability</a:t>
            </a:r>
          </a:p>
          <a:p>
            <a:pPr marL="0" indent="0">
              <a:buNone/>
            </a:pPr>
            <a:r>
              <a:rPr lang="zh-CN" altLang="en-US" dirty="0"/>
              <a:t>★</a:t>
            </a:r>
            <a:r>
              <a:rPr lang="en-US" altLang="zh-CN" b="1" dirty="0"/>
              <a:t>Faithfulness</a:t>
            </a:r>
            <a:endParaRPr lang="en-US" altLang="zh-CN" dirty="0"/>
          </a:p>
          <a:p>
            <a:r>
              <a:rPr lang="en-US" altLang="zh-CN" b="1" dirty="0"/>
              <a:t> Cost: </a:t>
            </a:r>
            <a:r>
              <a:rPr lang="en-US" altLang="zh-CN" dirty="0"/>
              <a:t>Number of model queries (budget) and runtime per explanation.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8EA6CE-ADF5-C4A6-AA1A-C4F6945C2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C253886-13DD-C35C-FC7D-DB9760130DA3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Numerical Metrics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624B8CCD-A0F0-DE76-3CF9-00F136A6A7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9031" y="776188"/>
                <a:ext cx="9913938" cy="530562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CN" b="1" dirty="0"/>
                  <a:t>Fidelity: </a:t>
                </a:r>
                <a:r>
                  <a:rPr lang="en-US" altLang="zh-CN" dirty="0"/>
                  <a:t>Weighted Mean Squared Error (WMSE) between surrogate predictions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zh-CN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 and black box predictions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 on perturbed samples.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𝑊𝑀𝑆𝐸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altLang="zh-C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altLang="zh-C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altLang="zh-CN" b="0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r>
                  <a:rPr lang="en-US" altLang="zh-CN" b="1" dirty="0"/>
                  <a:t>Why do we need weight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1" i="1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altLang="zh-CN" b="1" i="1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altLang="zh-CN" b="1" dirty="0"/>
                  <a:t> for each surrogate explanation?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Samples closer to the original instance should matter more.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CN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dirty="0"/>
                  <a:t>: the perturbation of original image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altLang="zh-CN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zh-CN" dirty="0"/>
                  <a:t>: the kernel that measures the similarity</a:t>
                </a:r>
              </a:p>
              <a:p>
                <a:pPr marL="0" indent="0">
                  <a:buNone/>
                </a:pPr>
                <a:endParaRPr lang="en-US" altLang="zh-CN" dirty="0"/>
              </a:p>
            </p:txBody>
          </p:sp>
        </mc:Choice>
        <mc:Fallback xmlns="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624B8CCD-A0F0-DE76-3CF9-00F136A6A7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9031" y="776188"/>
                <a:ext cx="9913938" cy="5305624"/>
              </a:xfrm>
              <a:blipFill>
                <a:blip r:embed="rId3"/>
                <a:stretch>
                  <a:fillRect l="-1292" t="-1837" r="-1907" b="-1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0284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B71602-34FE-558E-46B3-126E363B4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510CDE-9654-0A74-EFEF-13F4ED2DFA4D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Numerical Metrics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025F6125-F9D1-7119-721D-3D91D3E2B4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39031" y="1366308"/>
                <a:ext cx="9913938" cy="412538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altLang="zh-CN" b="1" dirty="0"/>
                  <a:t>Stability: </a:t>
                </a:r>
                <a:r>
                  <a:rPr lang="en-US" altLang="zh-CN" dirty="0"/>
                  <a:t>Jaccard overlap of top k </a:t>
                </a:r>
                <a:r>
                  <a:rPr lang="en-US" altLang="zh-CN" dirty="0" err="1"/>
                  <a:t>superpixels</a:t>
                </a:r>
                <a:r>
                  <a:rPr lang="en-US" altLang="zh-CN" dirty="0"/>
                  <a:t> across repeated runs with different random seeds under the same budget.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𝑆𝑡𝑎𝑏𝑖𝑙𝑖𝑡𝑦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zh-CN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e>
                                </m:mr>
                              </m:m>
                            </m:e>
                          </m:d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∩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num>
                            <m:den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</m:t>
                              </m:r>
                              <m:sSub>
                                <m:sSubPr>
                                  <m:ctrlP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altLang="zh-CN" dirty="0"/>
              </a:p>
              <a:p>
                <a:pPr marL="0" indent="0">
                  <a:buNone/>
                </a:pPr>
                <a:r>
                  <a:rPr lang="en-US" altLang="zh-CN" dirty="0"/>
                  <a:t>Where:</a:t>
                </a:r>
              </a:p>
              <a:p>
                <a:pPr marL="0" indent="0">
                  <a:buNone/>
                </a:pPr>
                <a:r>
                  <a:rPr lang="en-US" altLang="zh-CN" dirty="0"/>
                  <a:t>m: the number of runs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zh-CN" dirty="0"/>
                  <a:t>: the selected top-k </a:t>
                </a:r>
                <a:r>
                  <a:rPr lang="en-US" altLang="zh-CN" dirty="0" err="1"/>
                  <a:t>superpixels</a:t>
                </a:r>
                <a:r>
                  <a:rPr lang="en-US" altLang="zh-CN" dirty="0"/>
                  <a:t> in the corresponding round</a:t>
                </a:r>
              </a:p>
            </p:txBody>
          </p:sp>
        </mc:Choice>
        <mc:Fallback xmlns="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025F6125-F9D1-7119-721D-3D91D3E2B4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39031" y="1366308"/>
                <a:ext cx="9913938" cy="4125383"/>
              </a:xfrm>
              <a:blipFill>
                <a:blip r:embed="rId3"/>
                <a:stretch>
                  <a:fillRect l="-1292" t="-2363" r="-6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12970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F71770-7271-381F-C00B-BCCCA5292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A87CD7-19D1-E8D2-EAC8-704E73F7B175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Numerical Metrics</a:t>
            </a:r>
            <a:endParaRPr 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18CC085E-F9B9-ADFE-75D9-7FB2DD5D4D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242615" y="841376"/>
                <a:ext cx="9706769" cy="579649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zh-CN" altLang="en-US" dirty="0"/>
                  <a:t>★</a:t>
                </a:r>
                <a:r>
                  <a:rPr lang="en-US" altLang="zh-CN" b="1" dirty="0"/>
                  <a:t>Faithfulness: </a:t>
                </a:r>
                <a:r>
                  <a:rPr lang="en-US" altLang="zh-CN" dirty="0"/>
                  <a:t>Drop of black box prediction probability after removing the top-k </a:t>
                </a:r>
                <a:r>
                  <a:rPr lang="en-US" altLang="zh-CN" dirty="0" err="1"/>
                  <a:t>superpixels</a:t>
                </a:r>
                <a:r>
                  <a:rPr lang="en-US" altLang="zh-CN" dirty="0"/>
                  <a:t> which is selected by the explainer.</a:t>
                </a:r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𝐹𝑎𝑖𝑡h𝐷𝑟𝑜𝑝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</m:sSub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pPr marL="0" indent="0">
                  <a:buNone/>
                </a:pPr>
                <a:endParaRPr lang="en-US" altLang="zh-CN" dirty="0"/>
              </a:p>
              <a:p>
                <a:r>
                  <a:rPr lang="en-US" altLang="zh-CN" dirty="0"/>
                  <a:t>Larger drop </a:t>
                </a:r>
                <a:r>
                  <a:rPr lang="zh-CN" altLang="en-US" dirty="0">
                    <a:latin typeface="Cambria Math" panose="02040503050406030204" pitchFamily="18" charset="0"/>
                  </a:rPr>
                  <a:t>→</a:t>
                </a:r>
                <a:r>
                  <a:rPr lang="en-US" altLang="zh-CN" dirty="0"/>
                  <a:t> the selected </a:t>
                </a:r>
                <a:r>
                  <a:rPr lang="en-US" altLang="zh-CN" dirty="0" err="1"/>
                  <a:t>superpixels</a:t>
                </a:r>
                <a:r>
                  <a:rPr lang="en-US" altLang="zh-CN" dirty="0"/>
                  <a:t> are more influential</a:t>
                </a:r>
              </a:p>
              <a:p>
                <a:r>
                  <a:rPr lang="en-US" altLang="zh-CN" dirty="0"/>
                  <a:t>Smaller drop </a:t>
                </a:r>
                <a:r>
                  <a:rPr lang="zh-CN" altLang="en-US" dirty="0">
                    <a:latin typeface="Cambria Math" panose="02040503050406030204" pitchFamily="18" charset="0"/>
                  </a:rPr>
                  <a:t>→</a:t>
                </a:r>
                <a:r>
                  <a:rPr lang="en-US" altLang="zh-CN" dirty="0"/>
                  <a:t> the selected </a:t>
                </a:r>
                <a:r>
                  <a:rPr lang="en-US" altLang="zh-CN" dirty="0" err="1"/>
                  <a:t>superpixels</a:t>
                </a:r>
                <a:r>
                  <a:rPr lang="en-US" altLang="zh-CN" dirty="0"/>
                  <a:t> are less influential</a:t>
                </a:r>
              </a:p>
              <a:p>
                <a:pPr marL="0" indent="0">
                  <a:buNone/>
                </a:pPr>
                <a:endParaRPr lang="en-US" altLang="zh-CN" dirty="0"/>
              </a:p>
            </p:txBody>
          </p:sp>
        </mc:Choice>
        <mc:Fallback>
          <p:sp>
            <p:nvSpPr>
              <p:cNvPr id="4" name="Content Placeholder 4">
                <a:extLst>
                  <a:ext uri="{FF2B5EF4-FFF2-40B4-BE49-F238E27FC236}">
                    <a16:creationId xmlns:a16="http://schemas.microsoft.com/office/drawing/2014/main" id="{18CC085E-F9B9-ADFE-75D9-7FB2DD5D4D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42615" y="841376"/>
                <a:ext cx="9706769" cy="5796491"/>
              </a:xfrm>
              <a:blipFill>
                <a:blip r:embed="rId3"/>
                <a:stretch>
                  <a:fillRect l="-1319" t="-1893" r="-4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16CAE30A-FA41-42AF-0789-3964E323575B}"/>
              </a:ext>
            </a:extLst>
          </p:cNvPr>
          <p:cNvGrpSpPr/>
          <p:nvPr/>
        </p:nvGrpSpPr>
        <p:grpSpPr>
          <a:xfrm>
            <a:off x="2117947" y="2748939"/>
            <a:ext cx="7576299" cy="2557718"/>
            <a:chOff x="2177301" y="2833606"/>
            <a:chExt cx="7576299" cy="2557718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D8AAF7A3-06B1-157B-C8A3-D31EDDC2D09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177301" y="2833606"/>
              <a:ext cx="1636714" cy="2280719"/>
              <a:chOff x="1186318" y="2698140"/>
              <a:chExt cx="2012623" cy="2804538"/>
            </a:xfrm>
          </p:grpSpPr>
          <p:pic>
            <p:nvPicPr>
              <p:cNvPr id="5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A502E971-8516-20B9-FE02-B71AC487C8A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22812" y="2698140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D085F9A-E59A-729D-BE98-6E24991CCA6A}"/>
                  </a:ext>
                </a:extLst>
              </p:cNvPr>
              <p:cNvSpPr txBox="1"/>
              <p:nvPr/>
            </p:nvSpPr>
            <p:spPr>
              <a:xfrm>
                <a:off x="1186318" y="4707902"/>
                <a:ext cx="2012623" cy="7947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Freesentation 8 ExtraBold" pitchFamily="2" charset="-127"/>
                    <a:ea typeface="Freesentation 8 ExtraBold" pitchFamily="2" charset="-127"/>
                    <a:cs typeface="Times New Roman" panose="02020603050405020304" pitchFamily="18" charset="0"/>
                  </a:rPr>
                  <a:t>Original Input</a:t>
                </a:r>
              </a:p>
              <a:p>
                <a:pPr algn="ctr"/>
                <a:r>
                  <a:rPr lang="en-US" dirty="0"/>
                  <a:t>Dog: 0.973</a:t>
                </a:r>
                <a:endParaRPr lang="en-KR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010697C-C0A5-C201-2824-58F7024DEBC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41568" y="2833606"/>
              <a:ext cx="1708986" cy="2557718"/>
              <a:chOff x="1186318" y="2698140"/>
              <a:chExt cx="2101494" cy="3145156"/>
            </a:xfrm>
          </p:grpSpPr>
          <p:pic>
            <p:nvPicPr>
              <p:cNvPr id="9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666FEE55-BFD7-8393-8E30-B52F784E395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22812" y="2698140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A195631-CCE1-F5A2-2D30-A14D81AC46A6}"/>
                  </a:ext>
                </a:extLst>
              </p:cNvPr>
              <p:cNvSpPr txBox="1"/>
              <p:nvPr/>
            </p:nvSpPr>
            <p:spPr>
              <a:xfrm>
                <a:off x="1186318" y="4707902"/>
                <a:ext cx="2101494" cy="1135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Freesentation 8 ExtraBold" pitchFamily="2" charset="-127"/>
                    <a:ea typeface="Freesentation 8 ExtraBold" pitchFamily="2" charset="-127"/>
                    <a:cs typeface="Times New Roman" panose="02020603050405020304" pitchFamily="18" charset="0"/>
                  </a:rPr>
                  <a:t>Deletion Test1</a:t>
                </a:r>
              </a:p>
              <a:p>
                <a:pPr algn="ctr"/>
                <a:r>
                  <a:rPr lang="en-US" dirty="0"/>
                  <a:t>Dog: 0.972</a:t>
                </a:r>
              </a:p>
              <a:p>
                <a:pPr algn="ctr"/>
                <a:r>
                  <a:rPr lang="en-US" b="1" dirty="0" err="1">
                    <a:solidFill>
                      <a:srgbClr val="FF0000"/>
                    </a:solidFill>
                  </a:rPr>
                  <a:t>FaithDrop</a:t>
                </a:r>
                <a:r>
                  <a:rPr lang="zh-CN" altLang="en-US" b="1" dirty="0">
                    <a:solidFill>
                      <a:srgbClr val="FF0000"/>
                    </a:solidFill>
                  </a:rPr>
                  <a:t>≈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0</a:t>
                </a:r>
                <a:endParaRPr lang="en-KR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2950CD6-1391-C6C7-3527-02009CCD904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06619" y="2833606"/>
              <a:ext cx="1769622" cy="2557718"/>
              <a:chOff x="1076410" y="2698140"/>
              <a:chExt cx="2176057" cy="3145156"/>
            </a:xfrm>
          </p:grpSpPr>
          <p:pic>
            <p:nvPicPr>
              <p:cNvPr id="12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06B00D56-4A17-909E-9AD2-F8449AD336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22812" y="2698140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88C3C8C-5370-3635-FFB1-BF3E4823D98F}"/>
                  </a:ext>
                </a:extLst>
              </p:cNvPr>
              <p:cNvSpPr txBox="1"/>
              <p:nvPr/>
            </p:nvSpPr>
            <p:spPr>
              <a:xfrm>
                <a:off x="1076410" y="4707902"/>
                <a:ext cx="2176057" cy="1135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Freesentation 8 ExtraBold" pitchFamily="2" charset="-127"/>
                    <a:ea typeface="Freesentation 8 ExtraBold" pitchFamily="2" charset="-127"/>
                    <a:cs typeface="Times New Roman" panose="02020603050405020304" pitchFamily="18" charset="0"/>
                  </a:rPr>
                  <a:t>Deletion Test2</a:t>
                </a:r>
              </a:p>
              <a:p>
                <a:pPr algn="ctr"/>
                <a:r>
                  <a:rPr lang="en-US" dirty="0"/>
                  <a:t>Dog: 0.908</a:t>
                </a:r>
              </a:p>
              <a:p>
                <a:pPr algn="ctr"/>
                <a:r>
                  <a:rPr lang="en-US" altLang="zh-CN" b="1" dirty="0" err="1">
                    <a:solidFill>
                      <a:srgbClr val="FF0000"/>
                    </a:solidFill>
                  </a:rPr>
                  <a:t>FaithDrop</a:t>
                </a:r>
                <a:r>
                  <a:rPr lang="en-US" altLang="zh-CN" b="1" dirty="0">
                    <a:solidFill>
                      <a:srgbClr val="FF0000"/>
                    </a:solidFill>
                  </a:rPr>
                  <a:t>=0.065</a:t>
                </a:r>
                <a:endParaRPr lang="en-KR" altLang="zh-CN" b="1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B1C155DE-ADE2-C6BB-82AC-8A796D3EFB4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983978" y="2833606"/>
              <a:ext cx="1769622" cy="2557718"/>
              <a:chOff x="1104602" y="2698140"/>
              <a:chExt cx="2176057" cy="3145156"/>
            </a:xfrm>
          </p:grpSpPr>
          <p:pic>
            <p:nvPicPr>
              <p:cNvPr id="15" name="Picture 6" descr="A Dog Face in Front of the Camera Faceing Used for Print Media Stock Image  - Image of lens, media: 372062409">
                <a:extLst>
                  <a:ext uri="{FF2B5EF4-FFF2-40B4-BE49-F238E27FC236}">
                    <a16:creationId xmlns:a16="http://schemas.microsoft.com/office/drawing/2014/main" id="{34E5F55E-DDAD-70A2-BAF8-8C77A824932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22812" y="2698140"/>
                <a:ext cx="1939636" cy="193963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3062F4F-605D-6B6E-748C-EF6C49258377}"/>
                  </a:ext>
                </a:extLst>
              </p:cNvPr>
              <p:cNvSpPr txBox="1"/>
              <p:nvPr/>
            </p:nvSpPr>
            <p:spPr>
              <a:xfrm>
                <a:off x="1104602" y="4707902"/>
                <a:ext cx="2176057" cy="1135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Freesentation 8 ExtraBold" pitchFamily="2" charset="-127"/>
                    <a:ea typeface="Freesentation 8 ExtraBold" pitchFamily="2" charset="-127"/>
                    <a:cs typeface="Times New Roman" panose="02020603050405020304" pitchFamily="18" charset="0"/>
                  </a:rPr>
                  <a:t>Deletion Test3</a:t>
                </a:r>
              </a:p>
              <a:p>
                <a:pPr algn="ctr"/>
                <a:r>
                  <a:rPr lang="en-US" dirty="0"/>
                  <a:t>Dog: 0.857</a:t>
                </a:r>
              </a:p>
              <a:p>
                <a:pPr algn="ctr"/>
                <a:r>
                  <a:rPr lang="en-US" b="1" dirty="0" err="1">
                    <a:solidFill>
                      <a:srgbClr val="FF0000"/>
                    </a:solidFill>
                  </a:rPr>
                  <a:t>FaithDrop</a:t>
                </a:r>
                <a:r>
                  <a:rPr lang="en-US" b="1" dirty="0">
                    <a:solidFill>
                      <a:srgbClr val="FF0000"/>
                    </a:solidFill>
                  </a:rPr>
                  <a:t>=0.116</a:t>
                </a:r>
                <a:endParaRPr lang="en-KR" b="1" dirty="0">
                  <a:solidFill>
                    <a:srgbClr val="FF0000"/>
                  </a:solidFill>
                </a:endParaRPr>
              </a:p>
            </p:txBody>
          </p:sp>
        </p:grp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E0EB67C4-DD15-8534-C122-93BEBEFF0705}"/>
              </a:ext>
            </a:extLst>
          </p:cNvPr>
          <p:cNvSpPr/>
          <p:nvPr/>
        </p:nvSpPr>
        <p:spPr>
          <a:xfrm>
            <a:off x="5497159" y="3812451"/>
            <a:ext cx="192092" cy="27695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1B5B522-2962-0544-85B3-7F092C820463}"/>
              </a:ext>
            </a:extLst>
          </p:cNvPr>
          <p:cNvSpPr/>
          <p:nvPr/>
        </p:nvSpPr>
        <p:spPr>
          <a:xfrm>
            <a:off x="6066324" y="2895600"/>
            <a:ext cx="317544" cy="91685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61495E-92DE-38F0-4254-91F89851A40A}"/>
              </a:ext>
            </a:extLst>
          </p:cNvPr>
          <p:cNvSpPr/>
          <p:nvPr/>
        </p:nvSpPr>
        <p:spPr>
          <a:xfrm>
            <a:off x="7326140" y="2895600"/>
            <a:ext cx="317544" cy="91685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12A083-BDF6-B89D-776E-94D0D6E3D394}"/>
              </a:ext>
            </a:extLst>
          </p:cNvPr>
          <p:cNvSpPr/>
          <p:nvPr/>
        </p:nvSpPr>
        <p:spPr>
          <a:xfrm>
            <a:off x="8479235" y="3429000"/>
            <a:ext cx="660400" cy="660401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8910662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9EFA71-C49B-CBD3-3D9C-5255EEB0C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323057-2F48-DBC2-B41A-C930045365EA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Budget Sweep Pipeline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65E48204-8D16-1446-AEDB-9C74F6D8E2E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05283901"/>
                  </p:ext>
                </p:extLst>
              </p:nvPr>
            </p:nvGraphicFramePr>
            <p:xfrm>
              <a:off x="1542785" y="722645"/>
              <a:ext cx="9106429" cy="587872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106429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09363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>Algorithm 1 </a:t>
                          </a:r>
                          <a:r>
                            <a:rPr lang="en-US" altLang="zh-CN" sz="2800" b="0" dirty="0"/>
                            <a:t>Budget Sweep Evaluation with Metrics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808988">
                    <a:tc>
                      <a:txBody>
                        <a:bodyPr/>
                        <a:lstStyle/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Explainer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oMath>
                          </a14:m>
                          <a:r>
                            <a:rPr lang="en-US" altLang="zh-CN" sz="2400" dirty="0"/>
                            <a:t>, Image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altLang="zh-CN" sz="2400" dirty="0"/>
                            <a:t>, Segmentation S, target label c</a:t>
                          </a:r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Budge list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𝑏𝑢𝑑𝑔𝑒𝑡𝑠</m:t>
                              </m:r>
                            </m:oMath>
                          </a14:m>
                          <a:r>
                            <a:rPr lang="en-US" altLang="zh-CN" sz="2400" dirty="0"/>
                            <a:t>, Seed</a:t>
                          </a:r>
                          <a:r>
                            <a:rPr lang="en-US" altLang="zh-CN" sz="2400" baseline="0" dirty="0"/>
                            <a:t> list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</a:rPr>
                                <m:t>𝑠𝑒𝑒𝑑𝑠</m:t>
                              </m:r>
                            </m:oMath>
                          </a14:m>
                          <a:r>
                            <a:rPr lang="en-US" altLang="zh-CN" sz="2400" dirty="0"/>
                            <a:t>, Explanation length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en-US" altLang="zh-CN" sz="24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453760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𝑀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{ }</a:t>
                          </a:r>
                        </a:p>
                        <a:p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for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𝑏𝑢𝑑𝑔𝑒𝑡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𝑏𝑢𝑑𝑔𝑒𝑡𝑠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do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𝐸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{ }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for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𝑠𝑒𝑒𝑑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𝑠𝑒𝑒𝑑𝑠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do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𝑏𝑢𝑑𝑔𝑒𝑡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𝑠𝑒𝑒𝑑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r>
                            <a:rPr lang="en-US" altLang="zh-CN" sz="2400" b="0" baseline="0" dirty="0">
                              <a:ea typeface="Cambria Math" panose="02040503050406030204" pitchFamily="18" charset="0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top_k_superpixels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𝑓𝑎𝑖𝑡h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𝑓𝑖𝑑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FaithDrop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),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𝑊𝑀𝑆𝐸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altLang="zh-CN" sz="2400" b="0" i="0" kern="1200" baseline="0" dirty="0">
                            <a:solidFill>
                              <a:schemeClr val="dk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kern="1200" baseline="0" smtClean="0">
                                  <a:solidFill>
                                    <a:schemeClr val="dk1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𝐸</m:t>
                              </m:r>
                            </m:oMath>
                          </a14:m>
                          <a:r>
                            <a:rPr lang="en-US" altLang="zh-CN" sz="18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r>
                            <a:rPr kumimoji="0" lang="zh-CN" altLang="en-US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𝐸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∪ &lt;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𝑒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𝑓𝑎𝑖𝑡h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𝑓𝑖𝑑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&gt;</m:t>
                              </m:r>
                            </m:oMath>
                          </a14:m>
                          <a:endParaRPr lang="en-US" altLang="zh-CN" sz="2400" b="0" i="0" kern="1200" baseline="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       </a:t>
                          </a:r>
                          <a:r>
                            <a:rPr lang="en-US" altLang="zh-CN" sz="2400" b="1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end for</a:t>
                          </a:r>
                          <a:endParaRPr kumimoji="0" lang="en-US" altLang="zh-CN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en-US" altLang="zh-CN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a:t>       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oMath>
                          </a14:m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:r>
                            <a:rPr kumimoji="0" lang="zh-CN" altLang="en-US" sz="24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∪ &lt;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𝑏𝑢𝑑𝑔𝑒𝑡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CN" sz="2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Stability</m:t>
                              </m:r>
                              <m:r>
                                <m:rPr>
                                  <m:nor/>
                                </m:rPr>
                                <a:rPr kumimoji="0" lang="en-US" altLang="zh-CN" sz="24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Jaccard</m:t>
                              </m:r>
                              <m:r>
                                <m:rPr>
                                  <m:nor/>
                                </m:rPr>
                                <a:rPr kumimoji="0" lang="en-US" altLang="zh-CN" sz="2400" b="0" i="0" u="none" strike="noStrike" kern="1200" cap="none" spc="0" normalizeH="0" baseline="0" noProof="0" dirty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(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𝐸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𝐾</m:t>
                              </m:r>
                              <m:r>
                                <m:rPr>
                                  <m:nor/>
                                </m:rPr>
                                <a:rPr kumimoji="0" lang="en-US" altLang="zh-CN" sz="2400" b="0" i="0" u="none" strike="noStrike" kern="1200" cap="none" spc="0" normalizeH="0" baseline="0" noProof="0" dirty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𝐸</m:t>
                              </m:r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&gt;</m:t>
                              </m:r>
                            </m:oMath>
                          </a14:m>
                          <a:endParaRPr lang="en-US" altLang="zh-CN" sz="2400" b="0" i="0" kern="1200" baseline="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:r>
                            <a:rPr lang="en-US" altLang="zh-CN" sz="2400" b="1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end for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   </a:t>
                          </a:r>
                          <a:r>
                            <a:rPr lang="en-US" altLang="zh-CN" sz="2400" b="1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return</a:t>
                          </a:r>
                          <a:r>
                            <a:rPr lang="en-US" altLang="zh-CN" sz="2400" b="0" i="0" kern="1200" baseline="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zh-CN" sz="24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𝑀</m:t>
                              </m:r>
                            </m:oMath>
                          </a14:m>
                          <a:endParaRPr lang="en-US" altLang="zh-CN" sz="2400" b="0" i="0" kern="1200" baseline="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65E48204-8D16-1446-AEDB-9C74F6D8E2E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05283901"/>
                  </p:ext>
                </p:extLst>
              </p:nvPr>
            </p:nvGraphicFramePr>
            <p:xfrm>
              <a:off x="1542785" y="722645"/>
              <a:ext cx="9106429" cy="5878725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9106429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 xml:space="preserve">Algorithm 1 </a:t>
                          </a:r>
                          <a:r>
                            <a:rPr lang="en-US" altLang="zh-CN" sz="2800" b="0" dirty="0"/>
                            <a:t>Budget Sweep Evaluation with Metrics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67" t="-69630" r="-335" b="-56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4537605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67" t="-30738" r="-335" b="-18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1095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4C1ADE-6E44-6C8D-EA3F-3BCEE936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06AC91-B231-3758-16E3-371BA114E5B1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Coarse-to-Fine Budget Allocation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C5AF5144-2217-C043-F8A7-66316B70B63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4525444"/>
                  </p:ext>
                </p:extLst>
              </p:nvPr>
            </p:nvGraphicFramePr>
            <p:xfrm>
              <a:off x="2247371" y="654909"/>
              <a:ext cx="7697258" cy="61874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08916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1526748">
                    <a:tc>
                      <a:txBody>
                        <a:bodyPr/>
                        <a:lstStyle/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Classifier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r>
                            <a:rPr lang="en-US" altLang="zh-CN" sz="2400" dirty="0"/>
                            <a:t>, Budget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Image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altLang="zh-CN" sz="2400" dirty="0"/>
                            <a:t>, its interpretable version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Similarity kernel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dirty="0"/>
                            <a:t>, Explanation length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Candidate size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a14:m>
                          <a:r>
                            <a:rPr lang="en-US" altLang="zh-CN" sz="2400" dirty="0"/>
                            <a:t>, Exploration ratio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endParaRPr lang="en-US" altLang="zh-CN" sz="24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3549360">
                    <a:tc>
                      <a:txBody>
                        <a:bodyPr/>
                        <a:lstStyle/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oMath>
                          </a14:m>
                          <a:r>
                            <a:rPr lang="en-US" altLang="zh-CN" sz="2400" i="1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adaptive_coarse_ration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d>
                                <m:d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zh-CN" altLang="en-US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# Stage 1: Coarse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Coarse(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r>
                            <a:rPr lang="en-US" altLang="zh-CN" sz="24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altLang="zh-CN" sz="2400" dirty="0"/>
                            <a:t>,</a:t>
                          </a:r>
                          <a:r>
                            <a:rPr lang="en-US" altLang="zh-CN" sz="24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𝑤𝑐𝑜𝑎𝑟𝑠𝑒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SparseLinearModel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b="0" i="0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⁡(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𝐶𝑠𝑒𝑡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get_superpixels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𝑤𝑐𝑜𝑎𝑟𝑠𝑒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# Stage 2: Fine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Fine(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r>
                            <a:rPr lang="en-US" altLang="zh-CN" sz="2400" dirty="0"/>
                            <a:t>,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altLang="zh-CN" sz="2400" dirty="0"/>
                            <a:t>,</a:t>
                          </a:r>
                          <a:r>
                            <a:rPr lang="en-US" altLang="zh-CN" sz="2400" baseline="0" dirty="0"/>
                            <a:t>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𝐶𝑠𝑒𝑡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</m:oMath>
                          </a14:m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</m:t>
                              </m:r>
                              <m:sSub>
                                <m:sSub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endParaRPr lang="en-US" altLang="zh-CN" sz="2400" b="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oMath>
                          </a14:m>
                          <a:r>
                            <a:rPr lang="en-US" altLang="zh-CN" sz="2400" b="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SparseLinearModel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b="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return</a:t>
                          </a:r>
                          <a:r>
                            <a:rPr lang="en-US" altLang="zh-CN" sz="2400" b="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oMath>
                          </a14:m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C5AF5144-2217-C043-F8A7-66316B70B63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064525444"/>
                  </p:ext>
                </p:extLst>
              </p:nvPr>
            </p:nvGraphicFramePr>
            <p:xfrm>
              <a:off x="2247371" y="654909"/>
              <a:ext cx="7697258" cy="61874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 xml:space="preserve"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15544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36863" r="-316" b="-2737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411480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51627" r="-316" b="-325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048058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05966-D485-2D59-8C85-833B0A69EB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2554F4-4E3E-CB26-CE88-EB282A935C76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prstClr val="white"/>
                </a:solidFill>
                <a:ea typeface="Freesentation 9 Black" pitchFamily="2" charset="-127"/>
              </a:rPr>
              <a:t>Coarse-to-Fine Budget Allocation</a:t>
            </a:r>
            <a:endParaRPr lang="en-US" altLang="zh-CN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BD495C87-2E91-B270-E639-AEAB85068ED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64704621"/>
                  </p:ext>
                </p:extLst>
              </p:nvPr>
            </p:nvGraphicFramePr>
            <p:xfrm>
              <a:off x="2247371" y="714178"/>
              <a:ext cx="7697258" cy="444707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02081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1506242">
                    <a:tc>
                      <a:txBody>
                        <a:bodyPr/>
                        <a:lstStyle/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Classifier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r>
                            <a:rPr lang="en-US" altLang="zh-CN" sz="2400" dirty="0"/>
                            <a:t>, Budget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Image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altLang="zh-CN" sz="2400" dirty="0"/>
                            <a:t>, its interpretable version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Similarity kernel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dirty="0"/>
                            <a:t>, Explanation length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Candidate size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a14:m>
                          <a:r>
                            <a:rPr lang="en-US" altLang="zh-CN" sz="2400" dirty="0"/>
                            <a:t>, Exploration ratio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endParaRPr lang="en-US" altLang="zh-CN" sz="24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2374433">
                    <a:tc>
                      <a:txBody>
                        <a:bodyPr/>
                        <a:lstStyle/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# Stage 1: Coarse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{ }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for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 2, 3,…, </m:t>
                                  </m:r>
                                  <m:sSub>
                                    <m:sSubPr>
                                      <m:ctrlP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do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sample_around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 &lt;</m:t>
                              </m:r>
                              <m:sSubSup>
                                <m:sSubSup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</m:oMath>
                          </a14:m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end for</a:t>
                          </a:r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BD495C87-2E91-B270-E639-AEAB85068ED0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164704621"/>
                  </p:ext>
                </p:extLst>
              </p:nvPr>
            </p:nvGraphicFramePr>
            <p:xfrm>
              <a:off x="2247371" y="714178"/>
              <a:ext cx="7697258" cy="444707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 xml:space="preserve"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15544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36863" r="-316" b="-1560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2374433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89487" r="-316" b="-20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983966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F08EE-A1F1-7238-69D8-AAC26AB90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939215C-1D15-1BD8-2630-0788D20D2EAC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>
                <a:solidFill>
                  <a:prstClr val="white"/>
                </a:solidFill>
                <a:ea typeface="Freesentation 9 Black" pitchFamily="2" charset="-127"/>
                <a:cs typeface="+mj-cs"/>
              </a:rPr>
              <a:t>Coarse-to-Fine Budget Allocation</a:t>
            </a:r>
            <a:endParaRPr lang="en-US" sz="2800" b="1" dirty="0">
              <a:solidFill>
                <a:prstClr val="white"/>
              </a:solidFill>
              <a:ea typeface="Freesentation 9 Black" pitchFamily="2" charset="-127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2D3547E8-FF31-EDAD-92FA-C7454FCA147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14494624"/>
                  </p:ext>
                </p:extLst>
              </p:nvPr>
            </p:nvGraphicFramePr>
            <p:xfrm>
              <a:off x="2247371" y="718702"/>
              <a:ext cx="7697258" cy="597281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Classifier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oMath>
                          </a14:m>
                          <a:r>
                            <a:rPr lang="en-US" altLang="zh-CN" sz="2400" dirty="0"/>
                            <a:t>, Budget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Image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a14:m>
                          <a:r>
                            <a:rPr lang="en-US" altLang="zh-CN" sz="2400" dirty="0"/>
                            <a:t>, its interpretable version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Similarity kernel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2400" dirty="0"/>
                            <a:t>, Explanation length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a14:m>
                          <a:endParaRPr lang="en-US" altLang="zh-CN" sz="2400" dirty="0"/>
                        </a:p>
                        <a:p>
                          <a:r>
                            <a:rPr lang="en-US" altLang="zh-CN" sz="2400" b="1" dirty="0"/>
                            <a:t>Require: </a:t>
                          </a:r>
                          <a:r>
                            <a:rPr lang="en-US" altLang="zh-CN" sz="2400" dirty="0"/>
                            <a:t>Candidate size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oMath>
                          </a14:m>
                          <a:r>
                            <a:rPr lang="en-US" altLang="zh-CN" sz="2400" dirty="0"/>
                            <a:t>, Exploration ratio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240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endParaRPr lang="en-US" altLang="zh-CN" sz="2400" i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# Stage 2: Fine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{ }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for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1" i="0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 2, 3,…, </m:t>
                                  </m:r>
                                  <m:sSub>
                                    <m:sSubPr>
                                      <m:ctrlP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do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if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rand() &lt;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2400" b="0" i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zh-CN" altLang="en-US" sz="240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then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sample_around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else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    </a:t>
                          </a:r>
                          <a14:m>
                            <m:oMath xmlns:m="http://schemas.openxmlformats.org/officeDocument/2006/math">
                              <m:sSubSup>
                                <m:sSubSup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sample_focused_on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(</a:t>
                          </a:r>
                          <a:r>
                            <a:rPr lang="en-US" altLang="zh-CN" sz="2400" i="0" baseline="0" dirty="0" err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Cset</a:t>
                          </a: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)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end if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</a:t>
                          </a:r>
                          <a:r>
                            <a:rPr lang="zh-CN" altLang="en-US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←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∪ &lt;</m:t>
                              </m:r>
                              <m:sSubSup>
                                <m:sSubSupPr>
                                  <m:ctrlPr>
                                    <a:rPr lang="en-US" altLang="zh-CN" sz="240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400" b="0" i="1" baseline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altLang="zh-CN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240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altLang="zh-CN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400" b="0" i="1" baseline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altLang="zh-CN" sz="2400" b="0" i="1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&gt;</m:t>
                              </m:r>
                            </m:oMath>
                          </a14:m>
                          <a:endParaRPr lang="en-US" altLang="zh-CN" sz="2400" i="0" baseline="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altLang="zh-CN" sz="2400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    </a:t>
                          </a:r>
                          <a:r>
                            <a:rPr lang="en-US" altLang="zh-CN" sz="2400" b="1" i="0" baseline="0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a:t>end for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Content Placeholder 2">
                <a:extLst>
                  <a:ext uri="{FF2B5EF4-FFF2-40B4-BE49-F238E27FC236}">
                    <a16:creationId xmlns:a16="http://schemas.microsoft.com/office/drawing/2014/main" id="{2D3547E8-FF31-EDAD-92FA-C7454FCA1474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414494624"/>
                  </p:ext>
                </p:extLst>
              </p:nvPr>
            </p:nvGraphicFramePr>
            <p:xfrm>
              <a:off x="2247371" y="718702"/>
              <a:ext cx="7697258" cy="597281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7697258">
                      <a:extLst>
                        <a:ext uri="{9D8B030D-6E8A-4147-A177-3AD203B41FA5}">
                          <a16:colId xmlns:a16="http://schemas.microsoft.com/office/drawing/2014/main" val="3552084383"/>
                        </a:ext>
                      </a:extLst>
                    </a:gridCol>
                  </a:tblGrid>
                  <a:tr h="518160">
                    <a:tc>
                      <a:txBody>
                        <a:bodyPr/>
                        <a:lstStyle/>
                        <a:p>
                          <a:r>
                            <a:rPr lang="en-US" altLang="zh-CN" sz="2800" b="1" dirty="0"/>
                            <a:t xml:space="preserve">Algorithm 2 </a:t>
                          </a:r>
                          <a:r>
                            <a:rPr lang="en-US" altLang="zh-CN" sz="2800" b="0" dirty="0"/>
                            <a:t>Coarse-to-Fine Budget Allocation</a:t>
                          </a:r>
                          <a:endParaRPr lang="zh-CN" altLang="en-US" sz="28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14822085"/>
                      </a:ext>
                    </a:extLst>
                  </a:tr>
                  <a:tr h="15544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36863" r="-316" b="-26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6894096"/>
                      </a:ext>
                    </a:extLst>
                  </a:tr>
                  <a:tr h="390017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blipFill>
                          <a:blip r:embed="rId3"/>
                          <a:stretch>
                            <a:fillRect l="-79" t="-54446" r="-316" b="-343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1955444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731584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492829" y="0"/>
            <a:ext cx="9699171" cy="6858000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838199" y="3244334"/>
            <a:ext cx="968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18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PART 3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2829" y="2613392"/>
            <a:ext cx="969917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5000" b="1" dirty="0">
                <a:solidFill>
                  <a:srgbClr val="FFDB05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Experiments, Evaluation and Conclusion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Experiment Setup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57200" y="900000"/>
            <a:ext cx="5400000" cy="54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275D38"/>
                </a:solidFill>
                <a:latin typeface="Calibri"/>
              </a:rPr>
              <a:t>General Settings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Black-box model: </a:t>
            </a:r>
            <a:r>
              <a:rPr lang="en-US" sz="2400" dirty="0">
                <a:latin typeface="Calibri"/>
              </a:rPr>
              <a:t>ResNet-18 (pretrained, ImageNet)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Test image: </a:t>
            </a:r>
            <a:r>
              <a:rPr lang="en-US" sz="2400" dirty="0">
                <a:latin typeface="Calibri"/>
              </a:rPr>
              <a:t>skimage.data.cat() → class 285 “Egyptian cat”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Segmentation: </a:t>
            </a:r>
            <a:r>
              <a:rPr lang="en-US" sz="2400" dirty="0">
                <a:latin typeface="Calibri"/>
              </a:rPr>
              <a:t>SLIC, 100 superpixels, fixed across all runs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Budget levels: </a:t>
            </a:r>
            <a:r>
              <a:rPr lang="en-US" sz="2400" dirty="0">
                <a:latin typeface="Calibri"/>
              </a:rPr>
              <a:t>N ∈ {200, 500, 1000, 2000, 3000, 5000}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Repetitions: </a:t>
            </a:r>
            <a:r>
              <a:rPr lang="en-US" sz="2400" dirty="0">
                <a:latin typeface="Calibri"/>
              </a:rPr>
              <a:t>10 random seeds per budget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Surrogate: </a:t>
            </a:r>
            <a:r>
              <a:rPr lang="en-US" sz="2400" dirty="0">
                <a:latin typeface="Calibri"/>
              </a:rPr>
              <a:t>Ridge regression (α=1), cosine distance, exp kernel (width=0.25)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Top-k = 10, </a:t>
            </a:r>
            <a:r>
              <a:rPr lang="en-US" sz="2400" dirty="0">
                <a:latin typeface="Calibri"/>
              </a:rPr>
              <a:t>hide_color = 0 (black)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300000" y="900000"/>
            <a:ext cx="5400000" cy="54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spcAft>
                <a:spcPts val="400"/>
              </a:spcAft>
              <a:buNone/>
            </a:pPr>
            <a:r>
              <a:rPr lang="en-US" sz="3200" b="1" dirty="0">
                <a:solidFill>
                  <a:srgbClr val="275D38"/>
                </a:solidFill>
                <a:latin typeface="Calibri"/>
              </a:rPr>
              <a:t>Coarse-to-Fine Settings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Adaptive coarse fraction:</a:t>
            </a:r>
          </a:p>
          <a:p>
            <a:pPr marL="457200" indent="-228600">
              <a:spcAft>
                <a:spcPts val="200"/>
              </a:spcAft>
              <a:buFont typeface="Arial" panose="020B0604020202020204" pitchFamily="34" charset="0"/>
              <a:buChar char="–"/>
            </a:pPr>
            <a:r>
              <a:rPr lang="en-US" sz="2400" dirty="0">
                <a:latin typeface="Calibri"/>
              </a:rPr>
              <a:t>50% when N ≤ 500</a:t>
            </a:r>
          </a:p>
          <a:p>
            <a:pPr marL="457200" indent="-228600">
              <a:spcAft>
                <a:spcPts val="200"/>
              </a:spcAft>
              <a:buFont typeface="Arial" panose="020B0604020202020204" pitchFamily="34" charset="0"/>
              <a:buChar char="–"/>
            </a:pPr>
            <a:r>
              <a:rPr lang="en-US" sz="2400" dirty="0">
                <a:latin typeface="Calibri"/>
              </a:rPr>
              <a:t>30% when N ≤ 2000</a:t>
            </a:r>
          </a:p>
          <a:p>
            <a:pPr marL="457200" indent="-228600">
              <a:spcAft>
                <a:spcPts val="200"/>
              </a:spcAft>
              <a:buFont typeface="Arial" panose="020B0604020202020204" pitchFamily="34" charset="0"/>
              <a:buChar char="–"/>
            </a:pPr>
            <a:r>
              <a:rPr lang="en-US" sz="2400" dirty="0">
                <a:latin typeface="Calibri"/>
              </a:rPr>
              <a:t>20% otherwise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candidate_k = 20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ε = 0.2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400" b="1" dirty="0">
                <a:latin typeface="Calibri"/>
              </a:rPr>
              <a:t>batch_size =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Baseline Results: Vanilla LIME</a:t>
            </a:r>
          </a:p>
        </p:txBody>
      </p:sp>
      <p:pic>
        <p:nvPicPr>
          <p:cNvPr id="3" name="Tab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364" y="654909"/>
            <a:ext cx="10931272" cy="3935258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57200" y="4700000"/>
            <a:ext cx="11200000" cy="1800000"/>
          </a:xfrm>
          <a:prstGeom prst="rect">
            <a:avLst/>
          </a:prstGeom>
          <a:solidFill>
            <a:srgbClr val="F0F5F1"/>
          </a:solidFill>
          <a:ln w="12700">
            <a:solidFill>
              <a:srgbClr val="275D38"/>
            </a:solidFill>
          </a:ln>
        </p:spPr>
        <p:txBody>
          <a:bodyPr wrap="square" lIns="144000" tIns="72000" rIns="144000" bIns="72000" rtlCol="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Key Findings: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At N ≤ 1000: Faithfulness is negative → explanation points to wrong regions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Stability &lt; 0.1 → explanations are not reproducible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B9DBB-E687-BDA1-C1E4-534800DCF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E3E7DA-483C-9E41-6DC1-CEF20F71F6A6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Baseline Results: Visual Explanation Quality</a:t>
            </a:r>
          </a:p>
        </p:txBody>
      </p:sp>
      <p:pic>
        <p:nvPicPr>
          <p:cNvPr id="3" name="Visualization Image">
            <a:extLst>
              <a:ext uri="{FF2B5EF4-FFF2-40B4-BE49-F238E27FC236}">
                <a16:creationId xmlns:a16="http://schemas.microsoft.com/office/drawing/2014/main" id="{FCEAB611-29E7-BCD0-BD3E-46B524E4826B}"/>
              </a:ext>
            </a:extLst>
          </p:cNvPr>
          <p:cNvPicPr>
            <a:picLocks/>
          </p:cNvPicPr>
          <p:nvPr/>
        </p:nvPicPr>
        <p:blipFill>
          <a:blip r:embed="rId2"/>
          <a:srcRect b="51427"/>
          <a:stretch>
            <a:fillRect/>
          </a:stretch>
        </p:blipFill>
        <p:spPr>
          <a:xfrm>
            <a:off x="457200" y="799999"/>
            <a:ext cx="11280000" cy="60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211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CF915-77A2-73E6-2C0F-9C251397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966624-D423-13C3-3D28-D243133322BE}"/>
              </a:ext>
            </a:extLst>
          </p:cNvPr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Baseline Results: Visual Explanation Quality</a:t>
            </a:r>
          </a:p>
        </p:txBody>
      </p:sp>
      <p:pic>
        <p:nvPicPr>
          <p:cNvPr id="3" name="Visualization Image">
            <a:extLst>
              <a:ext uri="{FF2B5EF4-FFF2-40B4-BE49-F238E27FC236}">
                <a16:creationId xmlns:a16="http://schemas.microsoft.com/office/drawing/2014/main" id="{79D8D547-3DF8-40F9-16FB-AADBCDD5E6DB}"/>
              </a:ext>
            </a:extLst>
          </p:cNvPr>
          <p:cNvPicPr>
            <a:picLocks/>
          </p:cNvPicPr>
          <p:nvPr/>
        </p:nvPicPr>
        <p:blipFill>
          <a:blip r:embed="rId2"/>
          <a:srcRect t="50592"/>
          <a:stretch>
            <a:fillRect/>
          </a:stretch>
        </p:blipFill>
        <p:spPr>
          <a:xfrm>
            <a:off x="457200" y="654909"/>
            <a:ext cx="11280000" cy="6203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41899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Baseline Results: Visual Explanation Quality</a:t>
            </a:r>
          </a:p>
        </p:txBody>
      </p:sp>
      <p:pic>
        <p:nvPicPr>
          <p:cNvPr id="3" name="Visualization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00000"/>
            <a:ext cx="5434927" cy="5703746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96000" y="1037042"/>
            <a:ext cx="5978925" cy="23919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/>
              </a:rPr>
              <a:t>N=200: </a:t>
            </a:r>
            <a:r>
              <a:rPr lang="en-US" sz="2800" dirty="0">
                <a:latin typeface="Calibri"/>
              </a:rPr>
              <a:t>Scattered, inconsistent highlights — explanation is noise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Calibri"/>
              </a:rPr>
              <a:t>N=5000: </a:t>
            </a:r>
            <a:r>
              <a:rPr lang="en-US" sz="2800" dirty="0">
                <a:latin typeface="Calibri"/>
              </a:rPr>
              <a:t>Consistently focuses on cat’s facial features (eyes, nose)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Improvement Results: Coarse-to-Fine</a:t>
            </a:r>
          </a:p>
        </p:txBody>
      </p:sp>
      <p:pic>
        <p:nvPicPr>
          <p:cNvPr id="3" name="Table 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000" y="850000"/>
            <a:ext cx="10000000" cy="3600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57200" y="4700000"/>
            <a:ext cx="11200000" cy="1800000"/>
          </a:xfrm>
          <a:prstGeom prst="rect">
            <a:avLst/>
          </a:prstGeom>
          <a:solidFill>
            <a:srgbClr val="F0F5F1"/>
          </a:solidFill>
          <a:ln w="12700">
            <a:solidFill>
              <a:srgbClr val="275D38"/>
            </a:solidFill>
          </a:ln>
        </p:spPr>
        <p:txBody>
          <a:bodyPr wrap="square" lIns="144000" tIns="72000" rIns="144000" bIns="72000" rtlCol="0">
            <a:noAutofit/>
          </a:bodyPr>
          <a:lstStyle/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Key Findings: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Faithfulness positive at ALL budgets (vanilla is negative at N ≤ 500)</a:t>
            </a:r>
          </a:p>
          <a:p>
            <a:pPr marL="228600" indent="-22860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At N=500: Drop-k improves from −0.019 → 0.224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4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Vanilla LIME vs. Coarse-to-Fine: Metric Comparison</a:t>
            </a:r>
          </a:p>
        </p:txBody>
      </p:sp>
      <p:pic>
        <p:nvPicPr>
          <p:cNvPr id="3" name="Comparison Ch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50000"/>
            <a:ext cx="7500000" cy="5700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100000" y="900000"/>
            <a:ext cx="4092000" cy="54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275D38"/>
                </a:solidFill>
                <a:latin typeface="Calibri"/>
              </a:rPr>
              <a:t>Per-Metric Summary: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Faithfulness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800" dirty="0">
                <a:latin typeface="Calibri"/>
              </a:rPr>
              <a:t>C2F consistently higher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Fidelity (WMSE)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800" dirty="0">
                <a:latin typeface="Calibri"/>
              </a:rPr>
              <a:t>C2F much lower, but not directly comparable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Stability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2800" dirty="0">
                <a:latin typeface="Calibri"/>
              </a:rPr>
              <a:t>Mixed — slightly better at low N, worse at high N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Runtime</a:t>
            </a:r>
          </a:p>
          <a:p>
            <a:pPr marL="0" indent="0">
              <a:spcAft>
                <a:spcPts val="200"/>
              </a:spcAft>
              <a:buNone/>
            </a:pPr>
            <a:r>
              <a:rPr lang="en-US" sz="2800" dirty="0">
                <a:latin typeface="Calibri"/>
              </a:rPr>
              <a:t>Comparable across both methods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Discussion: Fidelity (WMSE) Across Methods</a:t>
            </a:r>
          </a:p>
        </p:txBody>
      </p:sp>
      <p:sp>
        <p:nvSpPr>
          <p:cNvPr id="3" name="Left Card"/>
          <p:cNvSpPr/>
          <p:nvPr/>
        </p:nvSpPr>
        <p:spPr>
          <a:xfrm>
            <a:off x="457200" y="900000"/>
            <a:ext cx="5200000" cy="3800000"/>
          </a:xfrm>
          <a:prstGeom prst="roundRect">
            <a:avLst>
              <a:gd name="adj" fmla="val 5000"/>
            </a:avLst>
          </a:prstGeom>
          <a:solidFill>
            <a:srgbClr val="F0F5F1"/>
          </a:solidFill>
          <a:ln w="19050">
            <a:solidFill>
              <a:srgbClr val="275D38"/>
            </a:solidFill>
          </a:ln>
        </p:spPr>
        <p:txBody>
          <a:bodyPr wrap="square" lIns="180000" tIns="144000" rIns="180000" bIns="144000" rtlCol="0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275D38"/>
                </a:solidFill>
                <a:latin typeface="Calibri"/>
              </a:rPr>
              <a:t>Vanilla LIME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All 100 superpixels randomly toggled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Ridge fits 100-dimensional space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CC0000"/>
                </a:solidFill>
                <a:latin typeface="Calibri"/>
              </a:rPr>
              <a:t>Higher WMSE</a:t>
            </a:r>
          </a:p>
        </p:txBody>
      </p:sp>
      <p:sp>
        <p:nvSpPr>
          <p:cNvPr id="4" name="Right Card"/>
          <p:cNvSpPr/>
          <p:nvPr/>
        </p:nvSpPr>
        <p:spPr>
          <a:xfrm>
            <a:off x="6500000" y="900000"/>
            <a:ext cx="5200000" cy="3800000"/>
          </a:xfrm>
          <a:prstGeom prst="roundRect">
            <a:avLst>
              <a:gd name="adj" fmla="val 5000"/>
            </a:avLst>
          </a:prstGeom>
          <a:solidFill>
            <a:srgbClr val="F0F5F1"/>
          </a:solidFill>
          <a:ln w="19050">
            <a:solidFill>
              <a:srgbClr val="275D38"/>
            </a:solidFill>
          </a:ln>
        </p:spPr>
        <p:txBody>
          <a:bodyPr wrap="square" lIns="180000" tIns="144000" rIns="180000" bIns="144000" rtlCol="0">
            <a:noAutofit/>
          </a:bodyPr>
          <a:lstStyle/>
          <a:p>
            <a:pPr marL="0" indent="0" algn="ctr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275D38"/>
                </a:solidFill>
                <a:latin typeface="Calibri"/>
              </a:rPr>
              <a:t>Coarse-to-Fine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Non-candidate superpixels stay ON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Ridge only fits ~40 candidate dims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rgbClr val="275D38"/>
                </a:solidFill>
                <a:latin typeface="Calibri"/>
              </a:rPr>
              <a:t>Lower WMSE</a:t>
            </a:r>
            <a:r>
              <a:rPr lang="en-US" sz="2800" dirty="0">
                <a:latin typeface="Calibri"/>
              </a:rPr>
              <a:t> (fitting is easier, not necessarily better)</a:t>
            </a:r>
          </a:p>
        </p:txBody>
      </p:sp>
      <p:sp>
        <p:nvSpPr>
          <p:cNvPr id="5" name="VS Text"/>
          <p:cNvSpPr txBox="1"/>
          <p:nvPr/>
        </p:nvSpPr>
        <p:spPr>
          <a:xfrm>
            <a:off x="5400000" y="2300000"/>
            <a:ext cx="1400000" cy="50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>
              <a:buNone/>
            </a:pPr>
            <a:r>
              <a:rPr lang="en-US" sz="2800" b="1" dirty="0">
                <a:solidFill>
                  <a:srgbClr val="999999"/>
                </a:solidFill>
                <a:latin typeface="Calibri"/>
              </a:rPr>
              <a:t>vs.</a:t>
            </a:r>
          </a:p>
        </p:txBody>
      </p:sp>
      <p:sp>
        <p:nvSpPr>
          <p:cNvPr id="6" name="Bottom Takeaway"/>
          <p:cNvSpPr txBox="1"/>
          <p:nvPr/>
        </p:nvSpPr>
        <p:spPr>
          <a:xfrm>
            <a:off x="457200" y="5200000"/>
            <a:ext cx="11280000" cy="1100000"/>
          </a:xfrm>
          <a:prstGeom prst="rect">
            <a:avLst/>
          </a:prstGeom>
          <a:solidFill>
            <a:srgbClr val="275D38"/>
          </a:solidFill>
        </p:spPr>
        <p:txBody>
          <a:bodyPr wrap="square" lIns="180000" tIns="72000" rIns="180000" bIns="72000" rtlCol="0" anchor="ctr"/>
          <a:lstStyle/>
          <a:p>
            <a:pPr algn="ctr">
              <a:buNone/>
            </a:pPr>
            <a:r>
              <a:rPr lang="en-US" sz="2400" b="1" dirty="0">
                <a:solidFill>
                  <a:prstClr val="white"/>
                </a:solidFill>
                <a:latin typeface="Calibri"/>
              </a:rPr>
              <a:t>WMSE is useful for within-method budget trends, not for cross-method comparison.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1"/>
            <a:ext cx="12192000" cy="654908"/>
          </a:xfrm>
          <a:prstGeom prst="rect">
            <a:avLst/>
          </a:prstGeom>
          <a:solidFill>
            <a:srgbClr val="275D38"/>
          </a:solidFill>
          <a:ln>
            <a:noFill/>
          </a:ln>
        </p:spPr>
        <p:txBody>
          <a:bodyPr rtlCol="0" anchor="ctr"/>
          <a:lstStyle/>
          <a:p>
            <a:pPr algn="ctr"/>
            <a:r>
              <a:rPr lang="en-US" sz="2800" b="1" dirty="0">
                <a:solidFill>
                  <a:prstClr val="white"/>
                </a:solidFill>
                <a:ea typeface="Freesentation 9 Black" pitchFamily="2" charset="-127"/>
                <a:cs typeface="+mj-cs"/>
              </a:rPr>
              <a:t>Conclusion &amp; Future Work</a:t>
            </a:r>
          </a:p>
        </p:txBody>
      </p:sp>
      <p:sp>
        <p:nvSpPr>
          <p:cNvPr id="3" name="Conclusion Box"/>
          <p:cNvSpPr/>
          <p:nvPr/>
        </p:nvSpPr>
        <p:spPr>
          <a:xfrm>
            <a:off x="457200" y="900000"/>
            <a:ext cx="5500000" cy="54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275D38"/>
                </a:solidFill>
                <a:latin typeface="Calibri"/>
              </a:rPr>
              <a:t>Conclusion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Built budget sweep evaluation framework with 4 metrics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Vanilla LIME is unreliable when N &lt; 1000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Coarse-to-fine improves faithfulness at all budgets, highlights meaningful regions at N=500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No additional query overhead</a:t>
            </a:r>
          </a:p>
        </p:txBody>
      </p:sp>
      <p:sp>
        <p:nvSpPr>
          <p:cNvPr id="4" name="Future Work Box"/>
          <p:cNvSpPr/>
          <p:nvPr/>
        </p:nvSpPr>
        <p:spPr>
          <a:xfrm>
            <a:off x="6300000" y="900000"/>
            <a:ext cx="5500000" cy="54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275D38"/>
                </a:solidFill>
                <a:latin typeface="Calibri"/>
              </a:rPr>
              <a:t>Future Work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Test on more images and models (VGG, ViT)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Explore alternative sampling strategies for better stability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Automatic hyperparameter tuning (coarse fraction, ε, candidate_k)</a:t>
            </a:r>
          </a:p>
          <a:p>
            <a:pPr marL="228600" indent="-2286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Calibri"/>
              </a:rPr>
              <a:t>Extend to tabular/text LIME</a:t>
            </a:r>
          </a:p>
        </p:txBody>
      </p:sp>
      <p:sp>
        <p:nvSpPr>
          <p:cNvPr id="5" name="Divider"/>
          <p:cNvSpPr/>
          <p:nvPr/>
        </p:nvSpPr>
        <p:spPr>
          <a:xfrm>
            <a:off x="6100000" y="1000000"/>
            <a:ext cx="0" cy="4800000"/>
          </a:xfrm>
          <a:prstGeom prst="line">
            <a:avLst/>
          </a:prstGeom>
          <a:ln w="12700">
            <a:solidFill>
              <a:srgbClr val="CCCCCC"/>
            </a:solidFill>
          </a:ln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01539" y="2690284"/>
            <a:ext cx="5988922" cy="1477432"/>
          </a:xfrm>
        </p:spPr>
        <p:txBody>
          <a:bodyPr>
            <a:noAutofit/>
          </a:bodyPr>
          <a:lstStyle/>
          <a:p>
            <a:pPr algn="ctr"/>
            <a:r>
              <a:rPr lang="en-US" sz="8000" b="1" dirty="0">
                <a:solidFill>
                  <a:srgbClr val="275D38"/>
                </a:solidFill>
                <a:latin typeface="Freesentation 8 ExtraBold" pitchFamily="2" charset="-127"/>
                <a:ea typeface="Freesentation 8 ExtraBold" pitchFamily="2" charset="-127"/>
                <a:cs typeface="Times New Roman" panose="02020603050405020304" pitchFamily="18" charset="0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1714</TotalTime>
  <Words>1460</Words>
  <Application>Microsoft Office PowerPoint</Application>
  <PresentationFormat>Widescreen</PresentationFormat>
  <Paragraphs>231</Paragraphs>
  <Slides>27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7" baseType="lpstr">
      <vt:lpstr>Freesentation 2 ExtraLight</vt:lpstr>
      <vt:lpstr>Freesentation 4 Regular</vt:lpstr>
      <vt:lpstr>Freesentation 8 ExtraBold</vt:lpstr>
      <vt:lpstr>Freesentation 9 Black</vt:lpstr>
      <vt:lpstr>等线</vt:lpstr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Qihang Feng</cp:lastModifiedBy>
  <cp:revision>181</cp:revision>
  <dcterms:created xsi:type="dcterms:W3CDTF">2013-01-27T09:14:00Z</dcterms:created>
  <dcterms:modified xsi:type="dcterms:W3CDTF">2026-04-02T23:15:41Z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AAB3135A7CCB48A78B1F72CC2F3F2F54_12</vt:lpwstr>
  </property>
  <property fmtid="{D5CDD505-2E9C-101B-9397-08002B2CF9AE}" pid="3" name="KSOProductBuildVer">
    <vt:lpwstr>2052-12.1.0.24657</vt:lpwstr>
  </property>
</Properties>
</file>